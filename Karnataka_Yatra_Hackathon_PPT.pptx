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E2A454-7B1A-FE6A-0E47-C4D38117215C}">
          <p14:sldIdLst>
            <p14:sldId id="256"/>
          </p14:sldIdLst>
        </p14:section>
        <p14:section name="Problem" id="{17414495-006F-D5EE-B8A3-D291691CD2C1}">
          <p14:sldIdLst>
            <p14:sldId id="257"/>
            <p14:sldId id="258"/>
          </p14:sldIdLst>
        </p14:section>
        <p14:section name="Solution" id="{FE2F3B76-BB26-4148-F588-0425212ED06F}">
          <p14:sldIdLst>
            <p14:sldId id="259"/>
            <p14:sldId id="260"/>
            <p14:sldId id="261"/>
            <p14:sldId id="262"/>
            <p14:sldId id="263"/>
          </p14:sldIdLst>
        </p14:section>
        <p14:section name="Technology" id="{79A643D3-83AB-6EC1-2596-042E341780FC}">
          <p14:sldIdLst>
            <p14:sldId id="264"/>
            <p14:sldId id="265"/>
          </p14:sldIdLst>
        </p14:section>
        <p14:section name="Demo and Close" id="{28AE8DE7-C9E4-F460-5943-4F1BF098086C}">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F5B301"/>
              </a:solidFill>
              <a:ln w="12700" cap="flat">
                <a:solidFill>
                  <a:srgbClr val="0B0B1A"/>
                </a:solidFill>
                <a:prstDash val="solid"/>
                <a:round/>
              </a:ln>
              <a:effectLst/>
            </c:spPr>
            <c:extLst>
              <c:ext xmlns:c16="http://schemas.microsoft.com/office/drawing/2014/chart" uri="{C3380CC4-5D6E-409C-BE32-E72D297353CC}">
                <c16:uniqueId val="{00000001-C4E2-44AD-BC55-E36476C29FF9}"/>
              </c:ext>
            </c:extLst>
          </c:dPt>
          <c:dPt>
            <c:idx val="1"/>
            <c:bubble3D val="0"/>
            <c:spPr>
              <a:solidFill>
                <a:srgbClr val="22C58B"/>
              </a:solidFill>
              <a:ln w="12700" cap="flat">
                <a:solidFill>
                  <a:srgbClr val="0B0B1A"/>
                </a:solidFill>
                <a:prstDash val="solid"/>
                <a:round/>
              </a:ln>
              <a:effectLst/>
            </c:spPr>
            <c:extLst>
              <c:ext xmlns:c16="http://schemas.microsoft.com/office/drawing/2014/chart" uri="{C3380CC4-5D6E-409C-BE32-E72D297353CC}">
                <c16:uniqueId val="{00000003-C4E2-44AD-BC55-E36476C29FF9}"/>
              </c:ext>
            </c:extLst>
          </c:dPt>
          <c:dPt>
            <c:idx val="2"/>
            <c:bubble3D val="0"/>
            <c:spPr>
              <a:solidFill>
                <a:srgbClr val="19B5C9"/>
              </a:solidFill>
              <a:ln w="12700" cap="flat">
                <a:solidFill>
                  <a:srgbClr val="0B0B1A"/>
                </a:solidFill>
                <a:prstDash val="solid"/>
                <a:round/>
              </a:ln>
              <a:effectLst/>
            </c:spPr>
            <c:extLst>
              <c:ext xmlns:c16="http://schemas.microsoft.com/office/drawing/2014/chart" uri="{C3380CC4-5D6E-409C-BE32-E72D297353CC}">
                <c16:uniqueId val="{00000005-C4E2-44AD-BC55-E36476C29FF9}"/>
              </c:ext>
            </c:extLst>
          </c:dPt>
          <c:dPt>
            <c:idx val="3"/>
            <c:bubble3D val="0"/>
            <c:spPr>
              <a:solidFill>
                <a:srgbClr val="FF7A59"/>
              </a:solidFill>
              <a:ln w="12700" cap="flat">
                <a:solidFill>
                  <a:srgbClr val="0B0B1A"/>
                </a:solidFill>
                <a:prstDash val="solid"/>
                <a:round/>
              </a:ln>
              <a:effectLst/>
            </c:spPr>
            <c:extLst>
              <c:ext xmlns:c16="http://schemas.microsoft.com/office/drawing/2014/chart" uri="{C3380CC4-5D6E-409C-BE32-E72D297353CC}">
                <c16:uniqueId val="{00000007-C4E2-44AD-BC55-E36476C29FF9}"/>
              </c:ext>
            </c:extLst>
          </c:dPt>
          <c:dLbls>
            <c:dLbl>
              <c:idx val="0"/>
              <c:numFmt formatCode="0%" sourceLinked="0"/>
              <c:spPr/>
              <c:txPr>
                <a:bodyPr/>
                <a:lstStyle/>
                <a:p>
                  <a:pPr>
                    <a:defRPr sz="1100" b="1" i="0" u="none" strike="noStrike">
                      <a:solidFill>
                        <a:srgbClr val="0B0B1A"/>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4E2-44AD-BC55-E36476C29FF9}"/>
                </c:ext>
              </c:extLst>
            </c:dLbl>
            <c:dLbl>
              <c:idx val="1"/>
              <c:numFmt formatCode="0%" sourceLinked="0"/>
              <c:spPr/>
              <c:txPr>
                <a:bodyPr/>
                <a:lstStyle/>
                <a:p>
                  <a:pPr>
                    <a:defRPr sz="1100" b="1" i="0" u="none" strike="noStrike">
                      <a:solidFill>
                        <a:srgbClr val="0B0B1A"/>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4E2-44AD-BC55-E36476C29FF9}"/>
                </c:ext>
              </c:extLst>
            </c:dLbl>
            <c:dLbl>
              <c:idx val="2"/>
              <c:numFmt formatCode="0%" sourceLinked="0"/>
              <c:spPr/>
              <c:txPr>
                <a:bodyPr/>
                <a:lstStyle/>
                <a:p>
                  <a:pPr>
                    <a:defRPr sz="1100" b="1" i="0" u="none" strike="noStrike">
                      <a:solidFill>
                        <a:srgbClr val="0B0B1A"/>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4E2-44AD-BC55-E36476C29FF9}"/>
                </c:ext>
              </c:extLst>
            </c:dLbl>
            <c:dLbl>
              <c:idx val="3"/>
              <c:numFmt formatCode="0%" sourceLinked="0"/>
              <c:spPr/>
              <c:txPr>
                <a:bodyPr/>
                <a:lstStyle/>
                <a:p>
                  <a:pPr>
                    <a:defRPr sz="1100" b="1" i="0" u="none" strike="noStrike">
                      <a:solidFill>
                        <a:srgbClr val="0B0B1A"/>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4E2-44AD-BC55-E36476C29FF9}"/>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Stay</c:v>
                </c:pt>
                <c:pt idx="1">
                  <c:v>Food</c:v>
                </c:pt>
                <c:pt idx="2">
                  <c:v>Transport</c:v>
                </c:pt>
                <c:pt idx="3">
                  <c:v>Entry fees</c:v>
                </c:pt>
              </c:strCache>
            </c:strRef>
          </c:cat>
          <c:val>
            <c:numRef>
              <c:f>Sheet1!$B$2:$B$5</c:f>
              <c:numCache>
                <c:formatCode>General</c:formatCode>
                <c:ptCount val="4"/>
                <c:pt idx="0">
                  <c:v>5700</c:v>
                </c:pt>
                <c:pt idx="1">
                  <c:v>3300</c:v>
                </c:pt>
                <c:pt idx="2">
                  <c:v>4200</c:v>
                </c:pt>
                <c:pt idx="3">
                  <c:v>1800</c:v>
                </c:pt>
              </c:numCache>
            </c:numRef>
          </c:val>
          <c:extLst>
            <c:ext xmlns:c16="http://schemas.microsoft.com/office/drawing/2014/chart" uri="{C3380CC4-5D6E-409C-BE32-E72D297353CC}">
              <c16:uniqueId val="{00000008-C4E2-44AD-BC55-E36476C29FF9}"/>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246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Namaskara! We are presenting Karnataka Yatra, an AI-powered travel planner for Karnataka, built for Problem Statement 06 under Travel and Tourism. Our theme is Atithi Devo Bhava, the guest is God. The app is bilingual, English first with a big button to switch the whole experience to Kannada.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06: build an AI-powered travel planner that creates personalised Karnataka itineraries from a traveller's interests, available time, budget and preferred type of experience. Karnataka is incredibly diverse, from Hampi and Hoysala temples to the Western Ghats, the coast and coffee estates, which makes planning hard. Affected users include visitors from India and abroad, families, solo travellers and non-Kannada speakers.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travellers use blogs and top-ten lists, booking portals, travel agents and, increasingly, generic AI chatbots. Each helps a little, but none combines personalisation, real local data, sensible routes and a transparent budget. Generic chatbots can sound confident while inventing places, timings and costs, and almost everything is English first with little local culture or Kannada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approach asks a general chatbot for an itinerary. Ours is data first. A curated Karnataka dataset decides which places are suitable, a planner clusters them by geography and fits the budget, and only then does the AI narrate the plan. The result is personalised, realistic, budget aware and available in both English and Kannada.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workflow has five steps. One, understand the traveller through a simple form. Two, score every place for interest match and season. Three, cluster by region and order stops by nearest neighbour so days never zig-zag. Four, fit the budget by adjusting the stay tier and showing a cost breakdown. Five, let the AI narrate the shortlist in English or Kannada. The key design decision: data first, AI second. The engine decides, the AI explains, and the app still works without an API key.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planner, four factors drive every decision: interest match, season fit, geographic clustering and budget fit. The traveller's chosen style sets the pace, from two to three stops a day for relaxed, up to four to five for packed, while the offbeat style favours lesser-known places.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Karnataka Yatra gives AI narrated day-by-day itineraries, a live route map, a budget breakdown, swap and regenerate controls, a destination explorer with filters and search, and options to copy, print or download the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Kannada is built into every layer. The whole interface switches between English and Kannada with one big button, including place names, descriptions, dishes and festivals. Each itinerary comes with useful Kannada phrases that can be spoken aloud, a Taste of Karnataka section and local festivals. Even day numbers switch to Kannada numerals.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end is Next.js 14 with TypeScript, Tailwind and Framer Motion for the glassmorphism design. Maps use React-Leaflet on OpenStreetMap, so no map key is needed, and Recharts draws the budget donut. The AI layer uses the Gemini or Claude API purely for narration, with a template fallback. Planning is rule based over a typed Karnataka dataset using Haversine distances. Language support covers an English and Kannada dictionary, Noto Sans Kannada and browser speech synthesis. Hosting is on Vercel, with secrets in environment variables.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data flow. The traveller fills the form in the browser. Preferences go to our Next.js API routes. The planner engine queries the Karnataka places dataset, scores, clusters, routes and fits the budget, then sends only the shortlist to the AI layer. The AI returns friendly narration in English or Kannada. The API combines everything and sends the itinerary, costs and map data back to the interface. If there is no API key, template narration is used, so the demo never breaks.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illustration: a three day heritage and hills trip. Day one covers royal Mysuru, day two moves from Srirangapatna to Coorg, and day three is a relaxed Madikeri day with coffee and a Kodava meal. Notice that each day stays in one area. The donut shows an illustrative fifteen thousand rupee budget split across stay, food, transport and entry fees.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Karnataka Yatra is a bilingual AI planner that is grounded in real Karnataka data. It helps travellers plan in minutes, spotlights lesser-known places, and brings the Kannada language to every visitor. Next we want to add bookings and live transport, voice planning in Kannada, an offline mode, weather aware re-planning and community contributed local gems.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Dhanyavadagalu, thank you. The GitHub repository, live deployed project and this explanation video are all linked in the submission form. Atithi Devo Bhava.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457200" y="4773168"/>
            <a:ext cx="6858000" cy="228600"/>
          </a:xfrm>
          <a:prstGeom prst="rect">
            <a:avLst/>
          </a:prstGeom>
          <a:noFill/>
          <a:ln/>
        </p:spPr>
        <p:txBody>
          <a:bodyPr wrap="square" lIns="0" tIns="0" rIns="0" bIns="0" rtlCol="0" anchor="ctr"/>
          <a:lstStyle/>
          <a:p>
            <a:pPr marL="0" indent="0">
              <a:buNone/>
            </a:pPr>
            <a:r>
              <a:rPr lang="en-US" sz="1000" dirty="0">
                <a:solidFill>
                  <a:schemeClr val="bg2"/>
                </a:solidFill>
                <a:latin typeface="Nirmala UI" pitchFamily="34" charset="0"/>
                <a:ea typeface="Nirmala UI" pitchFamily="34" charset="-122"/>
                <a:cs typeface="Nirmala UI" pitchFamily="34" charset="-120"/>
              </a:rPr>
              <a:t>Karnataka Yatra · ಕರ್ನಾಟಕ ಯಾತ್ರೆ   |   Kannada Digital Innovation Hackathon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457200" y="4773168"/>
            <a:ext cx="6858000" cy="228600"/>
          </a:xfrm>
          <a:prstGeom prst="rect">
            <a:avLst/>
          </a:prstGeom>
          <a:noFill/>
          <a:ln/>
        </p:spPr>
        <p:txBody>
          <a:bodyPr wrap="square" lIns="0" tIns="0" rIns="0" bIns="0" rtlCol="0" anchor="ctr"/>
          <a:lstStyle/>
          <a:p>
            <a:pPr marL="0" indent="0">
              <a:buNone/>
            </a:pPr>
            <a:r>
              <a:rPr lang="en-US" sz="1000" dirty="0">
                <a:solidFill>
                  <a:schemeClr val="bg2"/>
                </a:solidFill>
                <a:latin typeface="Nirmala UI" pitchFamily="34" charset="0"/>
                <a:ea typeface="Nirmala UI" pitchFamily="34" charset="-122"/>
                <a:cs typeface="Nirmala UI" pitchFamily="34" charset="-120"/>
              </a:rPr>
              <a:t>Karnataka Yatra · ಕರ್ನಾಟಕ ಯಾತ್ರೆ   |   Kannada Digital Innovation Hackathon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457200" y="4773168"/>
            <a:ext cx="6858000" cy="228600"/>
          </a:xfrm>
          <a:prstGeom prst="rect">
            <a:avLst/>
          </a:prstGeom>
          <a:noFill/>
          <a:ln/>
        </p:spPr>
        <p:txBody>
          <a:bodyPr wrap="square" lIns="0" tIns="0" rIns="0" bIns="0" rtlCol="0" anchor="ctr"/>
          <a:lstStyle/>
          <a:p>
            <a:pPr marL="0" indent="0">
              <a:buNone/>
            </a:pPr>
            <a:r>
              <a:rPr lang="en-US" sz="1000" dirty="0">
                <a:solidFill>
                  <a:schemeClr val="bg2"/>
                </a:solidFill>
                <a:latin typeface="Nirmala UI" pitchFamily="34" charset="0"/>
                <a:ea typeface="Nirmala UI" pitchFamily="34" charset="-122"/>
                <a:cs typeface="Nirmala UI" pitchFamily="34" charset="-120"/>
              </a:rPr>
              <a:t>Karnataka Yatra · ಕರ್ನಾಟಕ ಯಾತ್ರೆ   |   Kannada Digital Innovation Hackathon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83080"/>
            <a:ext cx="5212080" cy="7772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606040"/>
            <a:ext cx="5212080" cy="4114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E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783080"/>
            <a:ext cx="8229600" cy="640080"/>
          </a:xfrm>
          <a:prstGeom prst="rect">
            <a:avLst/>
          </a:prstGeom>
          <a:noFill/>
          <a:ln/>
        </p:spPr>
        <p:txBody>
          <a:bodyPr wrap="square" rtlCol="0"/>
          <a:lstStyle>
            <a:lvl1pPr marL="0" indent="0" algn="ctr">
              <a:buNone/>
              <a:defRPr lang="en-US" sz="3600" b="1" dirty="0">
                <a:solidFill>
                  <a:schemeClr val="bg1"/>
                </a:solidFill>
              </a:defRPr>
            </a:lvl1pPr>
          </a:lstStyle>
          <a:p>
            <a:pPr marL="0" indent="0" algn="ctr">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ultimatebeast505@gmail.com"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pill"/>
          <p:cNvSpPr/>
          <p:nvPr/>
        </p:nvSpPr>
        <p:spPr>
          <a:xfrm>
            <a:off x="548640" y="457200"/>
            <a:ext cx="4114800" cy="347472"/>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3" name="Text 1"/>
          <p:cNvSpPr txBox="1"/>
          <p:nvPr/>
        </p:nvSpPr>
        <p:spPr>
          <a:xfrm>
            <a:off x="548640" y="457200"/>
            <a:ext cx="4114800" cy="347472"/>
          </a:xfrm>
          <a:prstGeom prst="rect">
            <a:avLst/>
          </a:prstGeom>
          <a:noFill/>
          <a:ln/>
        </p:spPr>
        <p:txBody>
          <a:bodyPr wrap="square" lIns="0" tIns="0" rIns="0" bIns="0" rtlCol="0" anchor="ctr"/>
          <a:lstStyle/>
          <a:p>
            <a:pPr marL="0" indent="0" algn="ctr">
              <a:buNone/>
            </a:pPr>
            <a:r>
              <a:rPr lang="en-US" sz="1100" b="1" kern="0" spc="200" dirty="0">
                <a:solidFill>
                  <a:schemeClr val="accent1"/>
                </a:solidFill>
              </a:rPr>
              <a:t>KANNADA DIGITAL INNOVATION HACKATHON 2026</a:t>
            </a:r>
            <a:endParaRPr lang="en-US" sz="1100" dirty="0"/>
          </a:p>
        </p:txBody>
      </p:sp>
      <p:sp>
        <p:nvSpPr>
          <p:cNvPr id="4" name="Text 2"/>
          <p:cNvSpPr txBox="1"/>
          <p:nvPr/>
        </p:nvSpPr>
        <p:spPr>
          <a:xfrm>
            <a:off x="548640" y="832104"/>
            <a:ext cx="5212080" cy="822960"/>
          </a:xfrm>
          <a:prstGeom prst="rect">
            <a:avLst/>
          </a:prstGeom>
          <a:noFill/>
          <a:ln/>
        </p:spPr>
        <p:txBody>
          <a:bodyPr wrap="square" lIns="0" tIns="0" rIns="0" bIns="0" rtlCol="0" anchor="ctr"/>
          <a:lstStyle/>
          <a:p>
            <a:pPr marL="0" indent="0">
              <a:buNone/>
            </a:pPr>
            <a:r>
              <a:rPr lang="en-US" sz="4600" b="1" dirty="0">
                <a:solidFill>
                  <a:schemeClr val="accent1"/>
                </a:solidFill>
                <a:latin typeface="Nirmala UI" pitchFamily="34" charset="0"/>
                <a:ea typeface="Nirmala UI" pitchFamily="34" charset="-122"/>
                <a:cs typeface="Nirmala UI" pitchFamily="34" charset="-120"/>
              </a:rPr>
              <a:t>ಕರ್ನಾಟಕ ಯಾತ್ರೆ</a:t>
            </a:r>
            <a:endParaRPr lang="en-US" sz="4600" dirty="0"/>
          </a:p>
        </p:txBody>
      </p:sp>
      <p:sp>
        <p:nvSpPr>
          <p:cNvPr id="5" name="Text 0"/>
          <p:cNvSpPr>
            <a:spLocks noGrp="1"/>
          </p:cNvSpPr>
          <p:nvPr>
            <p:ph type="title" idx="100" hasCustomPrompt="1"/>
          </p:nvPr>
        </p:nvSpPr>
        <p:spPr>
          <a:xfrm>
            <a:off x="548640" y="1449324"/>
            <a:ext cx="5212080" cy="777240"/>
          </a:xfrm>
          <a:prstGeom prst="rect">
            <a:avLst/>
          </a:prstGeom>
          <a:noFill/>
          <a:ln/>
        </p:spPr>
        <p:txBody>
          <a:bodyPr wrap="square" lIns="0" tIns="0" rIns="0" bIns="0" rtlCol="0" anchor="ctr"/>
          <a:lstStyle/>
          <a:p>
            <a:pPr marL="0" indent="0" algn="l">
              <a:buNone/>
            </a:pPr>
            <a:r>
              <a:rPr lang="en-US" sz="4400" b="1" dirty="0">
                <a:solidFill>
                  <a:schemeClr val="bg1"/>
                </a:solidFill>
              </a:rPr>
              <a:t>Karnataka Yatra</a:t>
            </a:r>
            <a:endParaRPr lang="en-US" sz="4400" dirty="0"/>
          </a:p>
        </p:txBody>
      </p:sp>
      <p:sp>
        <p:nvSpPr>
          <p:cNvPr id="6" name="Text 0"/>
          <p:cNvSpPr>
            <a:spLocks noGrp="1"/>
          </p:cNvSpPr>
          <p:nvPr>
            <p:ph type="body" idx="101" hasCustomPrompt="1"/>
          </p:nvPr>
        </p:nvSpPr>
        <p:spPr>
          <a:xfrm>
            <a:off x="548640" y="2232705"/>
            <a:ext cx="5212080" cy="411480"/>
          </a:xfrm>
          <a:prstGeom prst="rect">
            <a:avLst/>
          </a:prstGeom>
          <a:noFill/>
          <a:ln/>
        </p:spPr>
        <p:txBody>
          <a:bodyPr wrap="square" lIns="0" tIns="0" rIns="0" bIns="0" rtlCol="0" anchor="ctr"/>
          <a:lstStyle/>
          <a:p>
            <a:pPr marL="0" indent="0" algn="l">
              <a:buNone/>
            </a:pPr>
            <a:r>
              <a:rPr lang="en-US" sz="2000" dirty="0">
                <a:solidFill>
                  <a:schemeClr val="bg2"/>
                </a:solidFill>
              </a:rPr>
              <a:t>AI Travel Planner for Karnataka</a:t>
            </a:r>
            <a:endParaRPr lang="en-US" sz="2000" dirty="0"/>
          </a:p>
        </p:txBody>
      </p:sp>
      <p:sp>
        <p:nvSpPr>
          <p:cNvPr id="7" name="Text 5"/>
          <p:cNvSpPr txBox="1"/>
          <p:nvPr/>
        </p:nvSpPr>
        <p:spPr>
          <a:xfrm>
            <a:off x="548640" y="2766060"/>
            <a:ext cx="5212080" cy="868680"/>
          </a:xfrm>
          <a:prstGeom prst="rect">
            <a:avLst/>
          </a:prstGeom>
          <a:noFill/>
          <a:ln/>
        </p:spPr>
        <p:txBody>
          <a:bodyPr wrap="square" lIns="0" tIns="0" rIns="0" bIns="0" rtlCol="0" anchor="t"/>
          <a:lstStyle/>
          <a:p>
            <a:pPr marL="0" indent="0">
              <a:buNone/>
            </a:pPr>
            <a:r>
              <a:rPr lang="en-US" sz="2600" b="1" dirty="0">
                <a:solidFill>
                  <a:schemeClr val="accent1"/>
                </a:solidFill>
                <a:latin typeface="Nirmala UI" pitchFamily="34" charset="0"/>
                <a:ea typeface="Nirmala UI" pitchFamily="34" charset="-122"/>
                <a:cs typeface="Nirmala UI" pitchFamily="34" charset="-120"/>
              </a:rPr>
              <a:t>ಅತಿಥಿ ದೇವೋ ಭವ</a:t>
            </a:r>
            <a:endParaRPr lang="en-US" sz="2600" dirty="0"/>
          </a:p>
          <a:p>
            <a:pPr marL="0" indent="0">
              <a:buNone/>
            </a:pPr>
            <a:r>
              <a:rPr lang="en-US" sz="1400" i="1" dirty="0">
                <a:solidFill>
                  <a:schemeClr val="bg2"/>
                </a:solidFill>
              </a:rPr>
              <a:t>Atithi Devo Bhava  ·  The guest is God</a:t>
            </a:r>
            <a:endParaRPr lang="en-US" sz="2600" dirty="0"/>
          </a:p>
        </p:txBody>
      </p:sp>
      <p:sp>
        <p:nvSpPr>
          <p:cNvPr id="8" name="Pill PS06"/>
          <p:cNvSpPr/>
          <p:nvPr/>
        </p:nvSpPr>
        <p:spPr>
          <a:xfrm>
            <a:off x="548640" y="4503420"/>
            <a:ext cx="2057400" cy="365760"/>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9" name="Text 7"/>
          <p:cNvSpPr txBox="1"/>
          <p:nvPr/>
        </p:nvSpPr>
        <p:spPr>
          <a:xfrm>
            <a:off x="548640" y="4503420"/>
            <a:ext cx="2057400" cy="365760"/>
          </a:xfrm>
          <a:prstGeom prst="rect">
            <a:avLst/>
          </a:prstGeom>
          <a:noFill/>
          <a:ln/>
        </p:spPr>
        <p:txBody>
          <a:bodyPr wrap="square" lIns="0" tIns="0" rIns="0" bIns="0" rtlCol="0" anchor="ctr"/>
          <a:lstStyle/>
          <a:p>
            <a:pPr marL="0" indent="0" algn="ctr">
              <a:buNone/>
            </a:pPr>
            <a:r>
              <a:rPr lang="en-US" sz="1300" b="1" dirty="0">
                <a:solidFill>
                  <a:schemeClr val="bg1"/>
                </a:solidFill>
              </a:rPr>
              <a:t>Problem Statement 06</a:t>
            </a:r>
            <a:endParaRPr lang="en-US" sz="1300" dirty="0"/>
          </a:p>
        </p:txBody>
      </p:sp>
      <p:sp>
        <p:nvSpPr>
          <p:cNvPr id="10" name="Pill Travel"/>
          <p:cNvSpPr/>
          <p:nvPr/>
        </p:nvSpPr>
        <p:spPr>
          <a:xfrm>
            <a:off x="2743200" y="4503420"/>
            <a:ext cx="1783080" cy="365760"/>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Text 9"/>
          <p:cNvSpPr txBox="1"/>
          <p:nvPr/>
        </p:nvSpPr>
        <p:spPr>
          <a:xfrm>
            <a:off x="2788920" y="4503420"/>
            <a:ext cx="1783080" cy="365760"/>
          </a:xfrm>
          <a:prstGeom prst="rect">
            <a:avLst/>
          </a:prstGeom>
          <a:noFill/>
          <a:ln/>
        </p:spPr>
        <p:txBody>
          <a:bodyPr wrap="square" lIns="0" tIns="0" rIns="0" bIns="0" rtlCol="0" anchor="ctr"/>
          <a:lstStyle/>
          <a:p>
            <a:pPr marL="0" indent="0" algn="ctr">
              <a:buNone/>
            </a:pPr>
            <a:r>
              <a:rPr lang="en-US" sz="1300" b="1" dirty="0">
                <a:solidFill>
                  <a:schemeClr val="bg1"/>
                </a:solidFill>
              </a:rPr>
              <a:t>Travel &amp; Tourism</a:t>
            </a:r>
            <a:endParaRPr lang="en-US" sz="1300" dirty="0"/>
          </a:p>
        </p:txBody>
      </p:sp>
      <p:sp>
        <p:nvSpPr>
          <p:cNvPr id="12" name="Preview card"/>
          <p:cNvSpPr/>
          <p:nvPr/>
        </p:nvSpPr>
        <p:spPr>
          <a:xfrm>
            <a:off x="5989320" y="868680"/>
            <a:ext cx="2697480" cy="3429000"/>
          </a:xfrm>
          <a:prstGeom prst="roundRect">
            <a:avLst>
              <a:gd name="adj" fmla="val 4746"/>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3" name="Toggle track"/>
          <p:cNvSpPr/>
          <p:nvPr/>
        </p:nvSpPr>
        <p:spPr>
          <a:xfrm>
            <a:off x="6217920" y="1051560"/>
            <a:ext cx="2240280" cy="384048"/>
          </a:xfrm>
          <a:prstGeom prst="roundRect">
            <a:avLst>
              <a:gd name="adj" fmla="val 50000"/>
            </a:avLst>
          </a:prstGeom>
          <a:solidFill>
            <a:schemeClr val="bg1">
              <a:alpha val="18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4" name="Toggle knob"/>
          <p:cNvSpPr/>
          <p:nvPr/>
        </p:nvSpPr>
        <p:spPr>
          <a:xfrm>
            <a:off x="7315200" y="1078992"/>
            <a:ext cx="1097280" cy="329184"/>
          </a:xfrm>
          <a:prstGeom prst="roundRect">
            <a:avLst>
              <a:gd name="adj" fmla="val 50000"/>
            </a:avLst>
          </a:prstGeom>
          <a:solidFill>
            <a:schemeClr val="accent1"/>
          </a:solidFill>
          <a:ln/>
        </p:spPr>
      </p:sp>
      <p:sp>
        <p:nvSpPr>
          <p:cNvPr id="15" name="Text 13"/>
          <p:cNvSpPr txBox="1"/>
          <p:nvPr/>
        </p:nvSpPr>
        <p:spPr>
          <a:xfrm>
            <a:off x="6217920" y="1051560"/>
            <a:ext cx="1097280" cy="384048"/>
          </a:xfrm>
          <a:prstGeom prst="rect">
            <a:avLst/>
          </a:prstGeom>
          <a:noFill/>
          <a:ln/>
        </p:spPr>
        <p:txBody>
          <a:bodyPr wrap="square" lIns="0" tIns="0" rIns="0" bIns="0" rtlCol="0" anchor="ctr"/>
          <a:lstStyle/>
          <a:p>
            <a:pPr marL="0" indent="0" algn="ctr">
              <a:buNone/>
            </a:pPr>
            <a:r>
              <a:rPr lang="en-US" sz="1300" b="1" dirty="0">
                <a:solidFill>
                  <a:schemeClr val="bg1"/>
                </a:solidFill>
              </a:rPr>
              <a:t>English</a:t>
            </a:r>
            <a:endParaRPr lang="en-US" sz="1300" dirty="0"/>
          </a:p>
        </p:txBody>
      </p:sp>
      <p:sp>
        <p:nvSpPr>
          <p:cNvPr id="16" name="Text 14"/>
          <p:cNvSpPr txBox="1"/>
          <p:nvPr/>
        </p:nvSpPr>
        <p:spPr>
          <a:xfrm>
            <a:off x="7315200" y="1078992"/>
            <a:ext cx="1097280" cy="329184"/>
          </a:xfrm>
          <a:prstGeom prst="rect">
            <a:avLst/>
          </a:prstGeom>
          <a:noFill/>
          <a:ln/>
        </p:spPr>
        <p:txBody>
          <a:bodyPr wrap="square" lIns="0" tIns="0" rIns="0" bIns="0" rtlCol="0" anchor="ctr"/>
          <a:lstStyle/>
          <a:p>
            <a:pPr marL="0" indent="0" algn="ctr">
              <a:buNone/>
            </a:pPr>
            <a:r>
              <a:rPr lang="en-US" sz="1400" b="1" dirty="0">
                <a:solidFill>
                  <a:schemeClr val="tx1"/>
                </a:solidFill>
                <a:latin typeface="Nirmala UI" pitchFamily="34" charset="0"/>
                <a:ea typeface="Nirmala UI" pitchFamily="34" charset="-122"/>
                <a:cs typeface="Nirmala UI" pitchFamily="34" charset="-120"/>
              </a:rPr>
              <a:t>ಕನ್ನಡ</a:t>
            </a:r>
            <a:endParaRPr lang="en-US" sz="1400" dirty="0"/>
          </a:p>
        </p:txBody>
      </p:sp>
      <p:sp>
        <p:nvSpPr>
          <p:cNvPr id="17" name="Text 15"/>
          <p:cNvSpPr txBox="1"/>
          <p:nvPr/>
        </p:nvSpPr>
        <p:spPr>
          <a:xfrm>
            <a:off x="6217920" y="1627632"/>
            <a:ext cx="2240280" cy="320040"/>
          </a:xfrm>
          <a:prstGeom prst="rect">
            <a:avLst/>
          </a:prstGeom>
          <a:noFill/>
          <a:ln/>
        </p:spPr>
        <p:txBody>
          <a:bodyPr wrap="square" lIns="0" tIns="0" rIns="0" bIns="0" rtlCol="0" anchor="ctr"/>
          <a:lstStyle/>
          <a:p>
            <a:pPr marL="0" indent="0">
              <a:buNone/>
            </a:pPr>
            <a:r>
              <a:rPr lang="en-US" sz="1600" b="1" dirty="0">
                <a:solidFill>
                  <a:schemeClr val="accent1"/>
                </a:solidFill>
              </a:rPr>
              <a:t>Day 1</a:t>
            </a:r>
            <a:r>
              <a:rPr lang="en-US" sz="1400" dirty="0">
                <a:solidFill>
                  <a:schemeClr val="bg2"/>
                </a:solidFill>
              </a:rPr>
              <a:t>  ·  </a:t>
            </a:r>
            <a:r>
              <a:rPr lang="en-US" sz="1600" b="1" dirty="0">
                <a:solidFill>
                  <a:schemeClr val="accent1"/>
                </a:solidFill>
                <a:latin typeface="Nirmala UI" pitchFamily="34" charset="0"/>
                <a:ea typeface="Nirmala UI" pitchFamily="34" charset="-122"/>
                <a:cs typeface="Nirmala UI" pitchFamily="34" charset="-120"/>
              </a:rPr>
              <a:t>ದಿನ ೧</a:t>
            </a:r>
            <a:endParaRPr lang="en-US" sz="1600" dirty="0"/>
          </a:p>
        </p:txBody>
      </p:sp>
      <p:sp>
        <p:nvSpPr>
          <p:cNvPr id="18" name="Stop dot 1"/>
          <p:cNvSpPr/>
          <p:nvPr/>
        </p:nvSpPr>
        <p:spPr>
          <a:xfrm>
            <a:off x="6217920" y="2167128"/>
            <a:ext cx="365760" cy="365760"/>
          </a:xfrm>
          <a:prstGeom prst="ellipse">
            <a:avLst/>
          </a:prstGeom>
          <a:solidFill>
            <a:schemeClr val="accent1"/>
          </a:solidFill>
          <a:ln/>
        </p:spPr>
      </p:sp>
      <p:sp>
        <p:nvSpPr>
          <p:cNvPr id="19" name="Text 17"/>
          <p:cNvSpPr txBox="1"/>
          <p:nvPr/>
        </p:nvSpPr>
        <p:spPr>
          <a:xfrm>
            <a:off x="6217920" y="2167128"/>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20" name="Text 18"/>
          <p:cNvSpPr txBox="1"/>
          <p:nvPr/>
        </p:nvSpPr>
        <p:spPr>
          <a:xfrm>
            <a:off x="6720840" y="2103120"/>
            <a:ext cx="1783080" cy="502920"/>
          </a:xfrm>
          <a:prstGeom prst="rect">
            <a:avLst/>
          </a:prstGeom>
          <a:noFill/>
          <a:ln/>
        </p:spPr>
        <p:txBody>
          <a:bodyPr wrap="square" lIns="0" tIns="0" rIns="0" bIns="0" rtlCol="0" anchor="ctr"/>
          <a:lstStyle/>
          <a:p>
            <a:pPr marL="0" indent="0">
              <a:buNone/>
            </a:pPr>
            <a:r>
              <a:rPr lang="en-US" sz="1400" b="1" dirty="0">
                <a:solidFill>
                  <a:schemeClr val="bg1"/>
                </a:solidFill>
              </a:rPr>
              <a:t>Mysuru Palace</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ಮೈಸೂರು ಅರಮನೆ</a:t>
            </a:r>
            <a:endParaRPr lang="en-US" sz="1400" dirty="0"/>
          </a:p>
        </p:txBody>
      </p:sp>
      <p:sp>
        <p:nvSpPr>
          <p:cNvPr id="21" name="Stop dot 2"/>
          <p:cNvSpPr/>
          <p:nvPr/>
        </p:nvSpPr>
        <p:spPr>
          <a:xfrm>
            <a:off x="6217920" y="2825496"/>
            <a:ext cx="365760" cy="365760"/>
          </a:xfrm>
          <a:prstGeom prst="ellipse">
            <a:avLst/>
          </a:prstGeom>
          <a:solidFill>
            <a:schemeClr val="accent3"/>
          </a:solidFill>
          <a:ln/>
        </p:spPr>
      </p:sp>
      <p:sp>
        <p:nvSpPr>
          <p:cNvPr id="22" name="Text 20"/>
          <p:cNvSpPr txBox="1"/>
          <p:nvPr/>
        </p:nvSpPr>
        <p:spPr>
          <a:xfrm>
            <a:off x="6217920" y="2825496"/>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23" name="Text 21"/>
          <p:cNvSpPr txBox="1"/>
          <p:nvPr/>
        </p:nvSpPr>
        <p:spPr>
          <a:xfrm>
            <a:off x="6720840" y="2761488"/>
            <a:ext cx="1783080" cy="502920"/>
          </a:xfrm>
          <a:prstGeom prst="rect">
            <a:avLst/>
          </a:prstGeom>
          <a:noFill/>
          <a:ln/>
        </p:spPr>
        <p:txBody>
          <a:bodyPr wrap="square" lIns="0" tIns="0" rIns="0" bIns="0" rtlCol="0" anchor="ctr"/>
          <a:lstStyle/>
          <a:p>
            <a:pPr marL="0" indent="0">
              <a:buNone/>
            </a:pPr>
            <a:r>
              <a:rPr lang="en-US" sz="1400" b="1" dirty="0">
                <a:solidFill>
                  <a:schemeClr val="bg1"/>
                </a:solidFill>
              </a:rPr>
              <a:t>Chamundi Hills</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ಚಾಮುಂಡಿ ಬೆಟ್ಟ</a:t>
            </a:r>
            <a:endParaRPr lang="en-US" sz="1400" dirty="0"/>
          </a:p>
        </p:txBody>
      </p:sp>
      <p:sp>
        <p:nvSpPr>
          <p:cNvPr id="24" name="Stop dot 3"/>
          <p:cNvSpPr/>
          <p:nvPr/>
        </p:nvSpPr>
        <p:spPr>
          <a:xfrm>
            <a:off x="6217920" y="3483864"/>
            <a:ext cx="365760" cy="365760"/>
          </a:xfrm>
          <a:prstGeom prst="ellipse">
            <a:avLst/>
          </a:prstGeom>
          <a:solidFill>
            <a:schemeClr val="accent2"/>
          </a:solidFill>
          <a:ln/>
        </p:spPr>
      </p:sp>
      <p:sp>
        <p:nvSpPr>
          <p:cNvPr id="25" name="Text 23"/>
          <p:cNvSpPr txBox="1"/>
          <p:nvPr/>
        </p:nvSpPr>
        <p:spPr>
          <a:xfrm>
            <a:off x="6217920" y="3483864"/>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26" name="Text 24"/>
          <p:cNvSpPr txBox="1"/>
          <p:nvPr/>
        </p:nvSpPr>
        <p:spPr>
          <a:xfrm>
            <a:off x="6720840" y="3419856"/>
            <a:ext cx="1783080" cy="502920"/>
          </a:xfrm>
          <a:prstGeom prst="rect">
            <a:avLst/>
          </a:prstGeom>
          <a:noFill/>
          <a:ln/>
        </p:spPr>
        <p:txBody>
          <a:bodyPr wrap="square" lIns="0" tIns="0" rIns="0" bIns="0" rtlCol="0" anchor="ctr"/>
          <a:lstStyle/>
          <a:p>
            <a:pPr marL="0" indent="0">
              <a:buNone/>
            </a:pPr>
            <a:r>
              <a:rPr lang="en-US" sz="1400" b="1" dirty="0">
                <a:solidFill>
                  <a:schemeClr val="bg1"/>
                </a:solidFill>
              </a:rPr>
              <a:t>Brindavan Gardens</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ಬೃಂದಾವನ ಉದ್ಯಾನ</a:t>
            </a:r>
            <a:endParaRPr lang="en-US" sz="1400" dirty="0"/>
          </a:p>
        </p:txBody>
      </p:sp>
      <p:sp>
        <p:nvSpPr>
          <p:cNvPr id="27" name="Text 25"/>
          <p:cNvSpPr txBox="1"/>
          <p:nvPr/>
        </p:nvSpPr>
        <p:spPr>
          <a:xfrm>
            <a:off x="6217920" y="4023360"/>
            <a:ext cx="2240280" cy="201168"/>
          </a:xfrm>
          <a:prstGeom prst="rect">
            <a:avLst/>
          </a:prstGeom>
          <a:noFill/>
          <a:ln/>
        </p:spPr>
        <p:txBody>
          <a:bodyPr wrap="square" lIns="0" tIns="0" rIns="0" bIns="0" rtlCol="0" anchor="ctr"/>
          <a:lstStyle/>
          <a:p>
            <a:pPr marL="0" indent="0" algn="ctr">
              <a:buNone/>
            </a:pPr>
            <a:r>
              <a:rPr lang="en-US" sz="1000" i="1" dirty="0">
                <a:solidFill>
                  <a:schemeClr val="bg2"/>
                </a:solidFill>
              </a:rPr>
              <a:t>Sample plan preview</a:t>
            </a:r>
            <a:endParaRPr lang="en-US" sz="1000" dirty="0"/>
          </a:p>
        </p:txBody>
      </p:sp>
      <p:sp>
        <p:nvSpPr>
          <p:cNvPr id="28" name="Text 0">
            <a:extLst>
              <a:ext uri="{FF2B5EF4-FFF2-40B4-BE49-F238E27FC236}">
                <a16:creationId xmlns:a16="http://schemas.microsoft.com/office/drawing/2014/main" id="{081FCD08-8C98-46C2-B8B0-0EBA25D0013E}"/>
              </a:ext>
            </a:extLst>
          </p:cNvPr>
          <p:cNvSpPr txBox="1">
            <a:spLocks/>
          </p:cNvSpPr>
          <p:nvPr/>
        </p:nvSpPr>
        <p:spPr>
          <a:xfrm>
            <a:off x="548640" y="3550874"/>
            <a:ext cx="5212080" cy="760521"/>
          </a:xfrm>
          <a:prstGeom prst="rect">
            <a:avLst/>
          </a:prstGeom>
          <a:noFill/>
          <a:ln/>
        </p:spPr>
        <p:txBody>
          <a:bodyPr wrap="square" lIns="0" tIns="0" rIns="0" bIns="0" rtlCol="0" anchor="ctr"/>
          <a:lstStyle>
            <a:lvl1pPr marL="0" indent="0" algn="l" defTabSz="914400" rtl="0" eaLnBrk="1" latinLnBrk="0" hangingPunct="1">
              <a:spcBef>
                <a:spcPct val="20000"/>
              </a:spcBef>
              <a:buFont typeface="Arial" pitchFamily="34" charset="0"/>
              <a:buNone/>
              <a:defRPr lang="en-US" sz="2000" kern="1200" dirty="0">
                <a:solidFill>
                  <a:schemeClr val="bg2"/>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Name : Soutik Mandal</a:t>
            </a:r>
          </a:p>
          <a:p>
            <a:r>
              <a:rPr lang="en-US" sz="1400" dirty="0"/>
              <a:t>Email : </a:t>
            </a:r>
            <a:r>
              <a:rPr lang="en-US" sz="1400" dirty="0">
                <a:hlinkClick r:id="rId3"/>
              </a:rPr>
              <a:t>ultimatebeast505@gmail.com</a:t>
            </a:r>
            <a:endParaRPr lang="en-US" sz="1400" dirty="0"/>
          </a:p>
          <a:p>
            <a:r>
              <a:rPr lang="en-US" sz="1400" dirty="0"/>
              <a:t>Project Development Time Taken : Around 10 days and still going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Problem Statement</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ಸಮಸ್ಯೆ ಹೇಳಿಕೆ</a:t>
            </a:r>
            <a:endParaRPr lang="en-US" sz="1600" dirty="0"/>
          </a:p>
        </p:txBody>
      </p:sp>
      <p:sp>
        <p:nvSpPr>
          <p:cNvPr id="5" name="Card The Problem"/>
          <p:cNvSpPr/>
          <p:nvPr/>
        </p:nvSpPr>
        <p:spPr>
          <a:xfrm>
            <a:off x="45720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QuestionCircle"/>
          <p:cNvSpPr/>
          <p:nvPr/>
        </p:nvSpPr>
        <p:spPr>
          <a:xfrm>
            <a:off x="658368" y="1600200"/>
            <a:ext cx="457200" cy="457200"/>
          </a:xfrm>
          <a:prstGeom prst="ellipse">
            <a:avLst/>
          </a:prstGeom>
          <a:solidFill>
            <a:schemeClr val="accent1"/>
          </a:solidFill>
          <a:ln/>
        </p:spPr>
      </p:sp>
      <p:pic>
        <p:nvPicPr>
          <p:cNvPr id="7" name="Image 0" descr="QuestionCircle icon"/>
          <p:cNvPicPr>
            <a:picLocks noChangeAspect="1"/>
          </p:cNvPicPr>
          <p:nvPr/>
        </p:nvPicPr>
        <p:blipFill>
          <a:blip r:embed="rId3"/>
          <a:stretch>
            <a:fillRect/>
          </a:stretch>
        </p:blipFill>
        <p:spPr>
          <a:xfrm>
            <a:off x="772668" y="1714500"/>
            <a:ext cx="228600" cy="228600"/>
          </a:xfrm>
          <a:prstGeom prst="rect">
            <a:avLst/>
          </a:prstGeom>
        </p:spPr>
      </p:pic>
      <p:sp>
        <p:nvSpPr>
          <p:cNvPr id="8" name="Text 4"/>
          <p:cNvSpPr txBox="1"/>
          <p:nvPr/>
        </p:nvSpPr>
        <p:spPr>
          <a:xfrm>
            <a:off x="123444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The Problem</a:t>
            </a:r>
            <a:endParaRPr lang="en-US" sz="1700" dirty="0"/>
          </a:p>
        </p:txBody>
      </p:sp>
      <p:sp>
        <p:nvSpPr>
          <p:cNvPr id="9" name="Text 5"/>
          <p:cNvSpPr txBox="1"/>
          <p:nvPr/>
        </p:nvSpPr>
        <p:spPr>
          <a:xfrm>
            <a:off x="65836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Heritage, wildlife, beaches, hills and food spread across very different regions</a:t>
            </a:r>
            <a:endParaRPr lang="en-US" sz="1400" dirty="0"/>
          </a:p>
          <a:p>
            <a:pPr marL="177800" indent="-177800">
              <a:spcAft>
                <a:spcPts val="600"/>
              </a:spcAft>
              <a:buSzPct val="100000"/>
              <a:buChar char="•"/>
            </a:pPr>
            <a:r>
              <a:rPr lang="en-US" sz="1400" dirty="0">
                <a:solidFill>
                  <a:schemeClr val="bg1"/>
                </a:solidFill>
              </a:rPr>
              <a:t>Hard to balance interests, days and budget</a:t>
            </a:r>
            <a:endParaRPr lang="en-US" sz="1400" dirty="0"/>
          </a:p>
          <a:p>
            <a:pPr marL="177800" indent="-177800">
              <a:spcAft>
                <a:spcPts val="600"/>
              </a:spcAft>
              <a:buSzPct val="100000"/>
              <a:buChar char="•"/>
            </a:pPr>
            <a:r>
              <a:rPr lang="en-US" sz="1400" dirty="0">
                <a:solidFill>
                  <a:schemeClr val="bg1"/>
                </a:solidFill>
              </a:rPr>
              <a:t>Generic plans zig-zag across the state</a:t>
            </a:r>
            <a:endParaRPr lang="en-US" sz="1400" dirty="0"/>
          </a:p>
        </p:txBody>
      </p:sp>
      <p:sp>
        <p:nvSpPr>
          <p:cNvPr id="10" name="Card Who Is Affected"/>
          <p:cNvSpPr/>
          <p:nvPr/>
        </p:nvSpPr>
        <p:spPr>
          <a:xfrm>
            <a:off x="329184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Users"/>
          <p:cNvSpPr/>
          <p:nvPr/>
        </p:nvSpPr>
        <p:spPr>
          <a:xfrm>
            <a:off x="3493008" y="1600200"/>
            <a:ext cx="457200" cy="457200"/>
          </a:xfrm>
          <a:prstGeom prst="ellipse">
            <a:avLst/>
          </a:prstGeom>
          <a:solidFill>
            <a:schemeClr val="accent3"/>
          </a:solidFill>
          <a:ln/>
        </p:spPr>
      </p:sp>
      <p:pic>
        <p:nvPicPr>
          <p:cNvPr id="12" name="Image 1" descr="Users icon"/>
          <p:cNvPicPr>
            <a:picLocks noChangeAspect="1"/>
          </p:cNvPicPr>
          <p:nvPr/>
        </p:nvPicPr>
        <p:blipFill>
          <a:blip r:embed="rId4"/>
          <a:stretch>
            <a:fillRect/>
          </a:stretch>
        </p:blipFill>
        <p:spPr>
          <a:xfrm>
            <a:off x="3607308" y="1714500"/>
            <a:ext cx="228600" cy="228600"/>
          </a:xfrm>
          <a:prstGeom prst="rect">
            <a:avLst/>
          </a:prstGeom>
        </p:spPr>
      </p:pic>
      <p:sp>
        <p:nvSpPr>
          <p:cNvPr id="13" name="Text 8"/>
          <p:cNvSpPr txBox="1"/>
          <p:nvPr/>
        </p:nvSpPr>
        <p:spPr>
          <a:xfrm>
            <a:off x="406908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Who Is Affected</a:t>
            </a:r>
            <a:endParaRPr lang="en-US" sz="1700" dirty="0"/>
          </a:p>
        </p:txBody>
      </p:sp>
      <p:sp>
        <p:nvSpPr>
          <p:cNvPr id="14" name="Text 9"/>
          <p:cNvSpPr txBox="1"/>
          <p:nvPr/>
        </p:nvSpPr>
        <p:spPr>
          <a:xfrm>
            <a:off x="349300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First-time visitors from India and abroad</a:t>
            </a:r>
            <a:endParaRPr lang="en-US" sz="1400" dirty="0"/>
          </a:p>
          <a:p>
            <a:pPr marL="177800" indent="-177800">
              <a:spcAft>
                <a:spcPts val="600"/>
              </a:spcAft>
              <a:buSzPct val="100000"/>
              <a:buChar char="•"/>
            </a:pPr>
            <a:r>
              <a:rPr lang="en-US" sz="1400" dirty="0">
                <a:solidFill>
                  <a:schemeClr val="bg1"/>
                </a:solidFill>
              </a:rPr>
              <a:t>Families, couples, solo and student travellers</a:t>
            </a:r>
            <a:endParaRPr lang="en-US" sz="1400" dirty="0"/>
          </a:p>
          <a:p>
            <a:pPr marL="177800" indent="-177800">
              <a:spcAft>
                <a:spcPts val="600"/>
              </a:spcAft>
              <a:buSzPct val="100000"/>
              <a:buChar char="•"/>
            </a:pPr>
            <a:r>
              <a:rPr lang="en-US" sz="1400" dirty="0">
                <a:solidFill>
                  <a:schemeClr val="bg1"/>
                </a:solidFill>
              </a:rPr>
              <a:t>Non-Kannada speakers facing a language gap</a:t>
            </a:r>
            <a:endParaRPr lang="en-US" sz="1400" dirty="0"/>
          </a:p>
          <a:p>
            <a:pPr marL="177800" indent="-177800">
              <a:spcAft>
                <a:spcPts val="600"/>
              </a:spcAft>
              <a:buSzPct val="100000"/>
              <a:buChar char="•"/>
            </a:pPr>
            <a:r>
              <a:rPr lang="en-US" sz="1400" dirty="0">
                <a:solidFill>
                  <a:schemeClr val="bg1"/>
                </a:solidFill>
              </a:rPr>
              <a:t>Local tourism businesses</a:t>
            </a:r>
            <a:endParaRPr lang="en-US" sz="1400" dirty="0"/>
          </a:p>
        </p:txBody>
      </p:sp>
      <p:sp>
        <p:nvSpPr>
          <p:cNvPr id="15" name="Card Why It Matters"/>
          <p:cNvSpPr/>
          <p:nvPr/>
        </p:nvSpPr>
        <p:spPr>
          <a:xfrm>
            <a:off x="612648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Lightbulb"/>
          <p:cNvSpPr/>
          <p:nvPr/>
        </p:nvSpPr>
        <p:spPr>
          <a:xfrm>
            <a:off x="6327648" y="1600200"/>
            <a:ext cx="457200" cy="457200"/>
          </a:xfrm>
          <a:prstGeom prst="ellipse">
            <a:avLst/>
          </a:prstGeom>
          <a:solidFill>
            <a:schemeClr val="accent2"/>
          </a:solidFill>
          <a:ln/>
        </p:spPr>
      </p:sp>
      <p:pic>
        <p:nvPicPr>
          <p:cNvPr id="17" name="Image 2" descr="Lightbulb icon"/>
          <p:cNvPicPr>
            <a:picLocks noChangeAspect="1"/>
          </p:cNvPicPr>
          <p:nvPr/>
        </p:nvPicPr>
        <p:blipFill>
          <a:blip r:embed="rId5"/>
          <a:stretch>
            <a:fillRect/>
          </a:stretch>
        </p:blipFill>
        <p:spPr>
          <a:xfrm>
            <a:off x="6441948" y="1714500"/>
            <a:ext cx="228600" cy="228600"/>
          </a:xfrm>
          <a:prstGeom prst="rect">
            <a:avLst/>
          </a:prstGeom>
        </p:spPr>
      </p:pic>
      <p:sp>
        <p:nvSpPr>
          <p:cNvPr id="18" name="Text 12"/>
          <p:cNvSpPr txBox="1"/>
          <p:nvPr/>
        </p:nvSpPr>
        <p:spPr>
          <a:xfrm>
            <a:off x="690372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Why It Matters</a:t>
            </a:r>
            <a:endParaRPr lang="en-US" sz="1700" dirty="0"/>
          </a:p>
        </p:txBody>
      </p:sp>
      <p:sp>
        <p:nvSpPr>
          <p:cNvPr id="19" name="Text 13"/>
          <p:cNvSpPr txBox="1"/>
          <p:nvPr/>
        </p:nvSpPr>
        <p:spPr>
          <a:xfrm>
            <a:off x="632764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Tourism supports livelihoods and local culture</a:t>
            </a:r>
            <a:endParaRPr lang="en-US" sz="1400" dirty="0"/>
          </a:p>
          <a:p>
            <a:pPr marL="177800" indent="-177800">
              <a:spcAft>
                <a:spcPts val="600"/>
              </a:spcAft>
              <a:buSzPct val="100000"/>
              <a:buChar char="•"/>
            </a:pPr>
            <a:r>
              <a:rPr lang="en-US" sz="1400" dirty="0">
                <a:solidFill>
                  <a:schemeClr val="bg1"/>
                </a:solidFill>
              </a:rPr>
              <a:t>Lesser-known places stay undiscovered</a:t>
            </a:r>
            <a:endParaRPr lang="en-US" sz="1400" dirty="0"/>
          </a:p>
          <a:p>
            <a:pPr marL="177800" indent="-177800">
              <a:spcAft>
                <a:spcPts val="600"/>
              </a:spcAft>
              <a:buSzPct val="100000"/>
              <a:buChar char="•"/>
            </a:pPr>
            <a:r>
              <a:rPr lang="en-US" sz="1400" dirty="0">
                <a:solidFill>
                  <a:schemeClr val="bg1"/>
                </a:solidFill>
              </a:rPr>
              <a:t>A confusing first trip means no return visit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Existing System</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ಈಗಿರುವ ವ್ಯವಸ್ಥೆ</a:t>
            </a:r>
            <a:endParaRPr lang="en-US" sz="1600" dirty="0"/>
          </a:p>
        </p:txBody>
      </p:sp>
      <p:sp>
        <p:nvSpPr>
          <p:cNvPr id="5" name="Card today"/>
          <p:cNvSpPr/>
          <p:nvPr/>
        </p:nvSpPr>
        <p:spPr>
          <a:xfrm>
            <a:off x="457200" y="1417320"/>
            <a:ext cx="4023360" cy="3108960"/>
          </a:xfrm>
          <a:prstGeom prst="roundRect">
            <a:avLst>
              <a:gd name="adj" fmla="val 4118"/>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Card gaps"/>
          <p:cNvSpPr/>
          <p:nvPr/>
        </p:nvSpPr>
        <p:spPr>
          <a:xfrm>
            <a:off x="4663440" y="1417320"/>
            <a:ext cx="4023360" cy="3108960"/>
          </a:xfrm>
          <a:prstGeom prst="roundRect">
            <a:avLst>
              <a:gd name="adj" fmla="val 4118"/>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7" name="Text 4"/>
          <p:cNvSpPr txBox="1"/>
          <p:nvPr/>
        </p:nvSpPr>
        <p:spPr>
          <a:xfrm>
            <a:off x="685800" y="1554480"/>
            <a:ext cx="3657600" cy="320040"/>
          </a:xfrm>
          <a:prstGeom prst="rect">
            <a:avLst/>
          </a:prstGeom>
          <a:noFill/>
          <a:ln/>
        </p:spPr>
        <p:txBody>
          <a:bodyPr wrap="square" lIns="0" tIns="0" rIns="0" bIns="0" rtlCol="0" anchor="ctr"/>
          <a:lstStyle/>
          <a:p>
            <a:pPr marL="0" indent="0">
              <a:buNone/>
            </a:pPr>
            <a:r>
              <a:rPr lang="en-US" sz="1700" b="1" dirty="0">
                <a:solidFill>
                  <a:schemeClr val="accent1"/>
                </a:solidFill>
              </a:rPr>
              <a:t>How travellers plan today</a:t>
            </a:r>
            <a:endParaRPr lang="en-US" sz="1700" dirty="0"/>
          </a:p>
        </p:txBody>
      </p:sp>
      <p:sp>
        <p:nvSpPr>
          <p:cNvPr id="8" name="Text 5"/>
          <p:cNvSpPr txBox="1"/>
          <p:nvPr/>
        </p:nvSpPr>
        <p:spPr>
          <a:xfrm>
            <a:off x="4892040" y="1554480"/>
            <a:ext cx="3657600" cy="320040"/>
          </a:xfrm>
          <a:prstGeom prst="rect">
            <a:avLst/>
          </a:prstGeom>
          <a:noFill/>
          <a:ln/>
        </p:spPr>
        <p:txBody>
          <a:bodyPr wrap="square" lIns="0" tIns="0" rIns="0" bIns="0" rtlCol="0" anchor="ctr"/>
          <a:lstStyle/>
          <a:p>
            <a:pPr marL="0" indent="0">
              <a:buNone/>
            </a:pPr>
            <a:r>
              <a:rPr lang="en-US" sz="1700" b="1" dirty="0">
                <a:solidFill>
                  <a:schemeClr val="accent2"/>
                </a:solidFill>
              </a:rPr>
              <a:t>Limitations and gaps</a:t>
            </a:r>
            <a:endParaRPr lang="en-US" sz="1700" dirty="0"/>
          </a:p>
        </p:txBody>
      </p:sp>
      <p:sp>
        <p:nvSpPr>
          <p:cNvPr id="9" name="Icon circle FaBook"/>
          <p:cNvSpPr/>
          <p:nvPr/>
        </p:nvSpPr>
        <p:spPr>
          <a:xfrm>
            <a:off x="685800" y="2057400"/>
            <a:ext cx="420624" cy="420624"/>
          </a:xfrm>
          <a:prstGeom prst="ellipse">
            <a:avLst/>
          </a:prstGeom>
          <a:solidFill>
            <a:schemeClr val="accent1"/>
          </a:solidFill>
          <a:ln/>
        </p:spPr>
      </p:sp>
      <p:pic>
        <p:nvPicPr>
          <p:cNvPr id="10" name="Image 0" descr="Book icon"/>
          <p:cNvPicPr>
            <a:picLocks noChangeAspect="1"/>
          </p:cNvPicPr>
          <p:nvPr/>
        </p:nvPicPr>
        <p:blipFill>
          <a:blip r:embed="rId3"/>
          <a:stretch>
            <a:fillRect/>
          </a:stretch>
        </p:blipFill>
        <p:spPr>
          <a:xfrm>
            <a:off x="790956" y="2162556"/>
            <a:ext cx="210312" cy="210312"/>
          </a:xfrm>
          <a:prstGeom prst="rect">
            <a:avLst/>
          </a:prstGeom>
        </p:spPr>
      </p:pic>
      <p:sp>
        <p:nvSpPr>
          <p:cNvPr id="11" name="Text 7"/>
          <p:cNvSpPr txBox="1"/>
          <p:nvPr/>
        </p:nvSpPr>
        <p:spPr>
          <a:xfrm>
            <a:off x="1261872" y="2057400"/>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Travel blogs and listicles</a:t>
            </a:r>
            <a:endParaRPr lang="en-US" sz="1500" dirty="0"/>
          </a:p>
          <a:p>
            <a:pPr marL="0" indent="0">
              <a:buNone/>
            </a:pPr>
            <a:r>
              <a:rPr lang="en-US" sz="1400" dirty="0">
                <a:solidFill>
                  <a:schemeClr val="bg2"/>
                </a:solidFill>
              </a:rPr>
              <a:t>One-size-fits-all top-10 lists</a:t>
            </a:r>
            <a:endParaRPr lang="en-US" sz="1500" dirty="0"/>
          </a:p>
        </p:txBody>
      </p:sp>
      <p:sp>
        <p:nvSpPr>
          <p:cNvPr id="12" name="Icon circle FaGlobe"/>
          <p:cNvSpPr/>
          <p:nvPr/>
        </p:nvSpPr>
        <p:spPr>
          <a:xfrm>
            <a:off x="685800" y="2660904"/>
            <a:ext cx="420624" cy="420624"/>
          </a:xfrm>
          <a:prstGeom prst="ellipse">
            <a:avLst/>
          </a:prstGeom>
          <a:solidFill>
            <a:schemeClr val="accent1"/>
          </a:solidFill>
          <a:ln/>
        </p:spPr>
      </p:sp>
      <p:pic>
        <p:nvPicPr>
          <p:cNvPr id="13" name="Image 1" descr="Globe icon"/>
          <p:cNvPicPr>
            <a:picLocks noChangeAspect="1"/>
          </p:cNvPicPr>
          <p:nvPr/>
        </p:nvPicPr>
        <p:blipFill>
          <a:blip r:embed="rId4"/>
          <a:stretch>
            <a:fillRect/>
          </a:stretch>
        </p:blipFill>
        <p:spPr>
          <a:xfrm>
            <a:off x="790956" y="2766060"/>
            <a:ext cx="210312" cy="210312"/>
          </a:xfrm>
          <a:prstGeom prst="rect">
            <a:avLst/>
          </a:prstGeom>
        </p:spPr>
      </p:pic>
      <p:sp>
        <p:nvSpPr>
          <p:cNvPr id="14" name="Text 9"/>
          <p:cNvSpPr txBox="1"/>
          <p:nvPr/>
        </p:nvSpPr>
        <p:spPr>
          <a:xfrm>
            <a:off x="1261872" y="2660904"/>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Booking portals and OTAs</a:t>
            </a:r>
            <a:endParaRPr lang="en-US" sz="1500" dirty="0"/>
          </a:p>
          <a:p>
            <a:pPr marL="0" indent="0">
              <a:buNone/>
            </a:pPr>
            <a:r>
              <a:rPr lang="en-US" sz="1400" dirty="0">
                <a:solidFill>
                  <a:schemeClr val="bg2"/>
                </a:solidFill>
              </a:rPr>
              <a:t>Good for tickets, weak at planning</a:t>
            </a:r>
            <a:endParaRPr lang="en-US" sz="1500" dirty="0"/>
          </a:p>
        </p:txBody>
      </p:sp>
      <p:sp>
        <p:nvSpPr>
          <p:cNvPr id="15" name="Icon circle FaUserTie"/>
          <p:cNvSpPr/>
          <p:nvPr/>
        </p:nvSpPr>
        <p:spPr>
          <a:xfrm>
            <a:off x="685800" y="3264408"/>
            <a:ext cx="420624" cy="420624"/>
          </a:xfrm>
          <a:prstGeom prst="ellipse">
            <a:avLst/>
          </a:prstGeom>
          <a:solidFill>
            <a:schemeClr val="accent1"/>
          </a:solidFill>
          <a:ln/>
        </p:spPr>
      </p:sp>
      <p:pic>
        <p:nvPicPr>
          <p:cNvPr id="16" name="Image 2" descr="UserTie icon"/>
          <p:cNvPicPr>
            <a:picLocks noChangeAspect="1"/>
          </p:cNvPicPr>
          <p:nvPr/>
        </p:nvPicPr>
        <p:blipFill>
          <a:blip r:embed="rId5"/>
          <a:stretch>
            <a:fillRect/>
          </a:stretch>
        </p:blipFill>
        <p:spPr>
          <a:xfrm>
            <a:off x="790956" y="3369564"/>
            <a:ext cx="210312" cy="210312"/>
          </a:xfrm>
          <a:prstGeom prst="rect">
            <a:avLst/>
          </a:prstGeom>
        </p:spPr>
      </p:pic>
      <p:sp>
        <p:nvSpPr>
          <p:cNvPr id="17" name="Text 11"/>
          <p:cNvSpPr txBox="1"/>
          <p:nvPr/>
        </p:nvSpPr>
        <p:spPr>
          <a:xfrm>
            <a:off x="1261872" y="3264408"/>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Travel agents</a:t>
            </a:r>
            <a:endParaRPr lang="en-US" sz="1500" dirty="0"/>
          </a:p>
          <a:p>
            <a:pPr marL="0" indent="0">
              <a:buNone/>
            </a:pPr>
            <a:r>
              <a:rPr lang="en-US" sz="1400" dirty="0">
                <a:solidFill>
                  <a:schemeClr val="bg2"/>
                </a:solidFill>
              </a:rPr>
              <a:t>Costly, fixed packages</a:t>
            </a:r>
            <a:endParaRPr lang="en-US" sz="1500" dirty="0"/>
          </a:p>
        </p:txBody>
      </p:sp>
      <p:sp>
        <p:nvSpPr>
          <p:cNvPr id="18" name="Icon circle FaRobot"/>
          <p:cNvSpPr/>
          <p:nvPr/>
        </p:nvSpPr>
        <p:spPr>
          <a:xfrm>
            <a:off x="685800" y="3867912"/>
            <a:ext cx="420624" cy="420624"/>
          </a:xfrm>
          <a:prstGeom prst="ellipse">
            <a:avLst/>
          </a:prstGeom>
          <a:solidFill>
            <a:schemeClr val="accent1"/>
          </a:solidFill>
          <a:ln/>
        </p:spPr>
      </p:sp>
      <p:pic>
        <p:nvPicPr>
          <p:cNvPr id="19" name="Image 3" descr="Robot icon"/>
          <p:cNvPicPr>
            <a:picLocks noChangeAspect="1"/>
          </p:cNvPicPr>
          <p:nvPr/>
        </p:nvPicPr>
        <p:blipFill>
          <a:blip r:embed="rId6"/>
          <a:stretch>
            <a:fillRect/>
          </a:stretch>
        </p:blipFill>
        <p:spPr>
          <a:xfrm>
            <a:off x="790956" y="3973068"/>
            <a:ext cx="210312" cy="210312"/>
          </a:xfrm>
          <a:prstGeom prst="rect">
            <a:avLst/>
          </a:prstGeom>
        </p:spPr>
      </p:pic>
      <p:sp>
        <p:nvSpPr>
          <p:cNvPr id="20" name="Text 13"/>
          <p:cNvSpPr txBox="1"/>
          <p:nvPr/>
        </p:nvSpPr>
        <p:spPr>
          <a:xfrm>
            <a:off x="1261872" y="3867912"/>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Generic AI chatbots</a:t>
            </a:r>
            <a:endParaRPr lang="en-US" sz="1500" dirty="0"/>
          </a:p>
          <a:p>
            <a:pPr marL="0" indent="0">
              <a:buNone/>
            </a:pPr>
            <a:r>
              <a:rPr lang="en-US" sz="1400" dirty="0">
                <a:solidFill>
                  <a:schemeClr val="bg2"/>
                </a:solidFill>
              </a:rPr>
              <a:t>Fluent, but not grounded in data</a:t>
            </a:r>
            <a:endParaRPr lang="en-US" sz="1500" dirty="0"/>
          </a:p>
        </p:txBody>
      </p:sp>
      <p:sp>
        <p:nvSpPr>
          <p:cNvPr id="21" name="Icon circle FaUserSlash"/>
          <p:cNvSpPr/>
          <p:nvPr/>
        </p:nvSpPr>
        <p:spPr>
          <a:xfrm>
            <a:off x="4892040" y="2057400"/>
            <a:ext cx="420624" cy="420624"/>
          </a:xfrm>
          <a:prstGeom prst="ellipse">
            <a:avLst/>
          </a:prstGeom>
          <a:solidFill>
            <a:schemeClr val="accent2"/>
          </a:solidFill>
          <a:ln/>
        </p:spPr>
      </p:sp>
      <p:pic>
        <p:nvPicPr>
          <p:cNvPr id="22" name="Image 4" descr="UserSlash icon"/>
          <p:cNvPicPr>
            <a:picLocks noChangeAspect="1"/>
          </p:cNvPicPr>
          <p:nvPr/>
        </p:nvPicPr>
        <p:blipFill>
          <a:blip r:embed="rId7"/>
          <a:stretch>
            <a:fillRect/>
          </a:stretch>
        </p:blipFill>
        <p:spPr>
          <a:xfrm>
            <a:off x="4997196" y="2162556"/>
            <a:ext cx="210312" cy="210312"/>
          </a:xfrm>
          <a:prstGeom prst="rect">
            <a:avLst/>
          </a:prstGeom>
        </p:spPr>
      </p:pic>
      <p:sp>
        <p:nvSpPr>
          <p:cNvPr id="23" name="Text 15"/>
          <p:cNvSpPr txBox="1"/>
          <p:nvPr/>
        </p:nvSpPr>
        <p:spPr>
          <a:xfrm>
            <a:off x="5468112" y="2057400"/>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Not personal</a:t>
            </a:r>
            <a:endParaRPr lang="en-US" sz="1500" dirty="0"/>
          </a:p>
          <a:p>
            <a:pPr marL="0" indent="0">
              <a:buNone/>
            </a:pPr>
            <a:r>
              <a:rPr lang="en-US" sz="1400" dirty="0">
                <a:solidFill>
                  <a:schemeClr val="bg2"/>
                </a:solidFill>
              </a:rPr>
              <a:t>Ignores interests, season, budget</a:t>
            </a:r>
            <a:endParaRPr lang="en-US" sz="1500" dirty="0"/>
          </a:p>
        </p:txBody>
      </p:sp>
      <p:sp>
        <p:nvSpPr>
          <p:cNvPr id="24" name="Icon circle FaRoute"/>
          <p:cNvSpPr/>
          <p:nvPr/>
        </p:nvSpPr>
        <p:spPr>
          <a:xfrm>
            <a:off x="4892040" y="2660904"/>
            <a:ext cx="420624" cy="420624"/>
          </a:xfrm>
          <a:prstGeom prst="ellipse">
            <a:avLst/>
          </a:prstGeom>
          <a:solidFill>
            <a:schemeClr val="accent2"/>
          </a:solidFill>
          <a:ln/>
        </p:spPr>
      </p:sp>
      <p:pic>
        <p:nvPicPr>
          <p:cNvPr id="25" name="Image 5" descr="Route icon"/>
          <p:cNvPicPr>
            <a:picLocks noChangeAspect="1"/>
          </p:cNvPicPr>
          <p:nvPr/>
        </p:nvPicPr>
        <p:blipFill>
          <a:blip r:embed="rId8"/>
          <a:stretch>
            <a:fillRect/>
          </a:stretch>
        </p:blipFill>
        <p:spPr>
          <a:xfrm>
            <a:off x="4997196" y="2766060"/>
            <a:ext cx="210312" cy="210312"/>
          </a:xfrm>
          <a:prstGeom prst="rect">
            <a:avLst/>
          </a:prstGeom>
        </p:spPr>
      </p:pic>
      <p:sp>
        <p:nvSpPr>
          <p:cNvPr id="26" name="Text 17"/>
          <p:cNvSpPr txBox="1"/>
          <p:nvPr/>
        </p:nvSpPr>
        <p:spPr>
          <a:xfrm>
            <a:off x="5468112" y="2660904"/>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Scattered</a:t>
            </a:r>
            <a:endParaRPr lang="en-US" sz="1500" dirty="0"/>
          </a:p>
          <a:p>
            <a:pPr marL="0" indent="0">
              <a:buNone/>
            </a:pPr>
            <a:r>
              <a:rPr lang="en-US" sz="1400" dirty="0">
                <a:solidFill>
                  <a:schemeClr val="bg2"/>
                </a:solidFill>
              </a:rPr>
              <a:t>Routes stitched manually across many tabs</a:t>
            </a:r>
            <a:endParaRPr lang="en-US" sz="1500" dirty="0"/>
          </a:p>
        </p:txBody>
      </p:sp>
      <p:sp>
        <p:nvSpPr>
          <p:cNvPr id="27" name="Icon circle FaExclamationTriangle"/>
          <p:cNvSpPr/>
          <p:nvPr/>
        </p:nvSpPr>
        <p:spPr>
          <a:xfrm>
            <a:off x="4892040" y="3264408"/>
            <a:ext cx="420624" cy="420624"/>
          </a:xfrm>
          <a:prstGeom prst="ellipse">
            <a:avLst/>
          </a:prstGeom>
          <a:solidFill>
            <a:schemeClr val="accent2"/>
          </a:solidFill>
          <a:ln/>
        </p:spPr>
      </p:sp>
      <p:pic>
        <p:nvPicPr>
          <p:cNvPr id="28" name="Image 6" descr="ExclamationTriangle icon"/>
          <p:cNvPicPr>
            <a:picLocks noChangeAspect="1"/>
          </p:cNvPicPr>
          <p:nvPr/>
        </p:nvPicPr>
        <p:blipFill>
          <a:blip r:embed="rId9"/>
          <a:stretch>
            <a:fillRect/>
          </a:stretch>
        </p:blipFill>
        <p:spPr>
          <a:xfrm>
            <a:off x="4997196" y="3369564"/>
            <a:ext cx="210312" cy="210312"/>
          </a:xfrm>
          <a:prstGeom prst="rect">
            <a:avLst/>
          </a:prstGeom>
        </p:spPr>
      </p:pic>
      <p:sp>
        <p:nvSpPr>
          <p:cNvPr id="29" name="Text 19"/>
          <p:cNvSpPr txBox="1"/>
          <p:nvPr/>
        </p:nvSpPr>
        <p:spPr>
          <a:xfrm>
            <a:off x="5468112" y="3264408"/>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Unreliable</a:t>
            </a:r>
            <a:endParaRPr lang="en-US" sz="1500" dirty="0"/>
          </a:p>
          <a:p>
            <a:pPr marL="0" indent="0">
              <a:buNone/>
            </a:pPr>
            <a:r>
              <a:rPr lang="en-US" sz="1400" dirty="0">
                <a:solidFill>
                  <a:schemeClr val="bg2"/>
                </a:solidFill>
              </a:rPr>
              <a:t>AI can invent places, timings and costs</a:t>
            </a:r>
            <a:endParaRPr lang="en-US" sz="1500" dirty="0"/>
          </a:p>
        </p:txBody>
      </p:sp>
      <p:sp>
        <p:nvSpPr>
          <p:cNvPr id="30" name="Icon circle FaLanguage"/>
          <p:cNvSpPr/>
          <p:nvPr/>
        </p:nvSpPr>
        <p:spPr>
          <a:xfrm>
            <a:off x="4892040" y="3867912"/>
            <a:ext cx="420624" cy="420624"/>
          </a:xfrm>
          <a:prstGeom prst="ellipse">
            <a:avLst/>
          </a:prstGeom>
          <a:solidFill>
            <a:schemeClr val="accent2"/>
          </a:solidFill>
          <a:ln/>
        </p:spPr>
      </p:sp>
      <p:pic>
        <p:nvPicPr>
          <p:cNvPr id="31" name="Image 7" descr="Language icon"/>
          <p:cNvPicPr>
            <a:picLocks noChangeAspect="1"/>
          </p:cNvPicPr>
          <p:nvPr/>
        </p:nvPicPr>
        <p:blipFill>
          <a:blip r:embed="rId10"/>
          <a:stretch>
            <a:fillRect/>
          </a:stretch>
        </p:blipFill>
        <p:spPr>
          <a:xfrm>
            <a:off x="4997196" y="3973068"/>
            <a:ext cx="210312" cy="210312"/>
          </a:xfrm>
          <a:prstGeom prst="rect">
            <a:avLst/>
          </a:prstGeom>
        </p:spPr>
      </p:pic>
      <p:sp>
        <p:nvSpPr>
          <p:cNvPr id="32" name="Text 21"/>
          <p:cNvSpPr txBox="1"/>
          <p:nvPr/>
        </p:nvSpPr>
        <p:spPr>
          <a:xfrm>
            <a:off x="5468112" y="3867912"/>
            <a:ext cx="3108960" cy="502920"/>
          </a:xfrm>
          <a:prstGeom prst="rect">
            <a:avLst/>
          </a:prstGeom>
          <a:noFill/>
          <a:ln/>
        </p:spPr>
        <p:txBody>
          <a:bodyPr wrap="square" lIns="0" tIns="0" rIns="0" bIns="0" rtlCol="0" anchor="ctr"/>
          <a:lstStyle/>
          <a:p>
            <a:pPr marL="0" indent="0">
              <a:buNone/>
            </a:pPr>
            <a:r>
              <a:rPr lang="en-US" sz="1500" b="1" dirty="0">
                <a:solidFill>
                  <a:schemeClr val="bg1"/>
                </a:solidFill>
              </a:rPr>
              <a:t>Not local</a:t>
            </a:r>
            <a:endParaRPr lang="en-US" sz="1500" dirty="0"/>
          </a:p>
          <a:p>
            <a:pPr marL="0" indent="0">
              <a:buNone/>
            </a:pPr>
            <a:r>
              <a:rPr lang="en-US" sz="1400" dirty="0">
                <a:solidFill>
                  <a:schemeClr val="bg2"/>
                </a:solidFill>
              </a:rPr>
              <a:t>English-first, little Kannada or culture</a:t>
            </a:r>
            <a:endParaRPr lang="en-US" sz="15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How Our Solution Is Different</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ನಮ್ಮ ವಿಶೇಷತೆ</a:t>
            </a:r>
            <a:endParaRPr lang="en-US" sz="1600" dirty="0"/>
          </a:p>
        </p:txBody>
      </p:sp>
      <p:sp>
        <p:nvSpPr>
          <p:cNvPr id="5" name="Text 2"/>
          <p:cNvSpPr txBox="1"/>
          <p:nvPr/>
        </p:nvSpPr>
        <p:spPr>
          <a:xfrm>
            <a:off x="594360" y="1371600"/>
            <a:ext cx="1554480" cy="320040"/>
          </a:xfrm>
          <a:prstGeom prst="rect">
            <a:avLst/>
          </a:prstGeom>
          <a:noFill/>
          <a:ln/>
        </p:spPr>
        <p:txBody>
          <a:bodyPr wrap="square" lIns="0" tIns="0" rIns="0" bIns="0" rtlCol="0" anchor="ctr"/>
          <a:lstStyle/>
          <a:p>
            <a:pPr marL="0" indent="0">
              <a:buNone/>
            </a:pPr>
            <a:r>
              <a:rPr lang="en-US" sz="1400" b="1" dirty="0">
                <a:solidFill>
                  <a:schemeClr val="bg2"/>
                </a:solidFill>
              </a:rPr>
              <a:t>Aspect</a:t>
            </a:r>
            <a:endParaRPr lang="en-US" sz="1400" dirty="0"/>
          </a:p>
        </p:txBody>
      </p:sp>
      <p:sp>
        <p:nvSpPr>
          <p:cNvPr id="6" name="Text 3"/>
          <p:cNvSpPr txBox="1"/>
          <p:nvPr/>
        </p:nvSpPr>
        <p:spPr>
          <a:xfrm>
            <a:off x="2514600" y="1371600"/>
            <a:ext cx="2743200" cy="320040"/>
          </a:xfrm>
          <a:prstGeom prst="rect">
            <a:avLst/>
          </a:prstGeom>
          <a:noFill/>
          <a:ln/>
        </p:spPr>
        <p:txBody>
          <a:bodyPr wrap="square" lIns="0" tIns="0" rIns="0" bIns="0" rtlCol="0" anchor="ctr"/>
          <a:lstStyle/>
          <a:p>
            <a:pPr marL="0" indent="0">
              <a:buNone/>
            </a:pPr>
            <a:r>
              <a:rPr lang="en-US" sz="1400" b="1" dirty="0">
                <a:solidFill>
                  <a:schemeClr val="accent2"/>
                </a:solidFill>
              </a:rPr>
              <a:t>Usual approach</a:t>
            </a:r>
            <a:endParaRPr lang="en-US" sz="1400" dirty="0"/>
          </a:p>
        </p:txBody>
      </p:sp>
      <p:sp>
        <p:nvSpPr>
          <p:cNvPr id="7" name="Text 4"/>
          <p:cNvSpPr txBox="1"/>
          <p:nvPr/>
        </p:nvSpPr>
        <p:spPr>
          <a:xfrm>
            <a:off x="5669280" y="1371600"/>
            <a:ext cx="3017520" cy="320040"/>
          </a:xfrm>
          <a:prstGeom prst="rect">
            <a:avLst/>
          </a:prstGeom>
          <a:noFill/>
          <a:ln/>
        </p:spPr>
        <p:txBody>
          <a:bodyPr wrap="square" lIns="0" tIns="0" rIns="0" bIns="0" rtlCol="0" anchor="ctr"/>
          <a:lstStyle/>
          <a:p>
            <a:pPr marL="0" indent="0">
              <a:buNone/>
            </a:pPr>
            <a:r>
              <a:rPr lang="en-US" sz="1400" b="1" dirty="0">
                <a:solidFill>
                  <a:schemeClr val="accent1"/>
                </a:solidFill>
              </a:rPr>
              <a:t>Karnataka Yatra  ·  </a:t>
            </a:r>
            <a:r>
              <a:rPr lang="en-US" sz="1400" b="1" dirty="0">
                <a:solidFill>
                  <a:schemeClr val="accent1"/>
                </a:solidFill>
                <a:latin typeface="Nirmala UI" pitchFamily="34" charset="0"/>
                <a:ea typeface="Nirmala UI" pitchFamily="34" charset="-122"/>
                <a:cs typeface="Nirmala UI" pitchFamily="34" charset="-120"/>
              </a:rPr>
              <a:t>ಕರ್ನಾಟಕ ಯಾತ್ರೆ</a:t>
            </a:r>
            <a:endParaRPr lang="en-US" sz="1400" dirty="0"/>
          </a:p>
        </p:txBody>
      </p:sp>
      <p:sp>
        <p:nvSpPr>
          <p:cNvPr id="8" name="Row Personalisation"/>
          <p:cNvSpPr/>
          <p:nvPr/>
        </p:nvSpPr>
        <p:spPr>
          <a:xfrm>
            <a:off x="457200" y="1755648"/>
            <a:ext cx="8229600" cy="493776"/>
          </a:xfrm>
          <a:prstGeom prst="roundRect">
            <a:avLst>
              <a:gd name="adj" fmla="val 1851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9" name="Highlight Personalisation"/>
          <p:cNvSpPr/>
          <p:nvPr/>
        </p:nvSpPr>
        <p:spPr>
          <a:xfrm>
            <a:off x="5440680" y="1792224"/>
            <a:ext cx="3200400" cy="420624"/>
          </a:xfrm>
          <a:prstGeom prst="roundRect">
            <a:avLst>
              <a:gd name="adj" fmla="val 17391"/>
            </a:avLst>
          </a:prstGeom>
          <a:solidFill>
            <a:schemeClr val="accent1">
              <a:alpha val="18000"/>
            </a:schemeClr>
          </a:solidFill>
          <a:ln w="9525">
            <a:solidFill>
              <a:schemeClr val="accent1">
                <a:alpha val="45000"/>
              </a:schemeClr>
            </a:solidFill>
            <a:prstDash val="solid"/>
          </a:ln>
          <a:effectLst>
            <a:outerShdw blurRad="127000" dist="38100" dir="5400000" algn="bl" rotWithShape="0">
              <a:srgbClr val="000000">
                <a:alpha val="30000"/>
              </a:srgbClr>
            </a:outerShdw>
          </a:effectLst>
        </p:spPr>
      </p:sp>
      <p:sp>
        <p:nvSpPr>
          <p:cNvPr id="10" name="Text 7"/>
          <p:cNvSpPr txBox="1"/>
          <p:nvPr/>
        </p:nvSpPr>
        <p:spPr>
          <a:xfrm>
            <a:off x="640080" y="1755648"/>
            <a:ext cx="1554480" cy="493776"/>
          </a:xfrm>
          <a:prstGeom prst="rect">
            <a:avLst/>
          </a:prstGeom>
          <a:noFill/>
          <a:ln/>
        </p:spPr>
        <p:txBody>
          <a:bodyPr wrap="square" lIns="0" tIns="0" rIns="0" bIns="0" rtlCol="0" anchor="ctr"/>
          <a:lstStyle/>
          <a:p>
            <a:pPr marL="0" indent="0">
              <a:buNone/>
            </a:pPr>
            <a:r>
              <a:rPr lang="en-US" sz="1400" b="1" dirty="0">
                <a:solidFill>
                  <a:schemeClr val="bg1"/>
                </a:solidFill>
              </a:rPr>
              <a:t>Personalisation</a:t>
            </a:r>
            <a:endParaRPr lang="en-US" sz="1400" dirty="0"/>
          </a:p>
        </p:txBody>
      </p:sp>
      <p:sp>
        <p:nvSpPr>
          <p:cNvPr id="11" name="Text 8"/>
          <p:cNvSpPr txBox="1"/>
          <p:nvPr/>
        </p:nvSpPr>
        <p:spPr>
          <a:xfrm>
            <a:off x="2331720" y="1755648"/>
            <a:ext cx="3017520" cy="493776"/>
          </a:xfrm>
          <a:prstGeom prst="rect">
            <a:avLst/>
          </a:prstGeom>
          <a:noFill/>
          <a:ln/>
        </p:spPr>
        <p:txBody>
          <a:bodyPr wrap="square" lIns="0" tIns="0" rIns="0" bIns="0" rtlCol="0" anchor="ctr"/>
          <a:lstStyle/>
          <a:p>
            <a:pPr marL="0" indent="0">
              <a:buNone/>
            </a:pPr>
            <a:r>
              <a:rPr lang="en-US" sz="1400" dirty="0">
                <a:solidFill>
                  <a:schemeClr val="bg2"/>
                </a:solidFill>
              </a:rPr>
              <a:t>Same top-10 list for everyone</a:t>
            </a:r>
            <a:endParaRPr lang="en-US" sz="1400" dirty="0"/>
          </a:p>
        </p:txBody>
      </p:sp>
      <p:sp>
        <p:nvSpPr>
          <p:cNvPr id="12" name="Text 9"/>
          <p:cNvSpPr txBox="1"/>
          <p:nvPr/>
        </p:nvSpPr>
        <p:spPr>
          <a:xfrm>
            <a:off x="5577840" y="1755648"/>
            <a:ext cx="3017520" cy="493776"/>
          </a:xfrm>
          <a:prstGeom prst="rect">
            <a:avLst/>
          </a:prstGeom>
          <a:noFill/>
          <a:ln/>
        </p:spPr>
        <p:txBody>
          <a:bodyPr wrap="square" lIns="0" tIns="0" rIns="0" bIns="0" rtlCol="0" anchor="ctr"/>
          <a:lstStyle/>
          <a:p>
            <a:pPr marL="0" indent="0">
              <a:buNone/>
            </a:pPr>
            <a:r>
              <a:rPr lang="en-US" sz="1400" b="1" dirty="0">
                <a:solidFill>
                  <a:schemeClr val="bg1"/>
                </a:solidFill>
              </a:rPr>
              <a:t>Interests + days + budget + style</a:t>
            </a:r>
            <a:endParaRPr lang="en-US" sz="1400" dirty="0"/>
          </a:p>
        </p:txBody>
      </p:sp>
      <p:sp>
        <p:nvSpPr>
          <p:cNvPr id="13" name="Row Place data"/>
          <p:cNvSpPr/>
          <p:nvPr/>
        </p:nvSpPr>
        <p:spPr>
          <a:xfrm>
            <a:off x="457200" y="2322576"/>
            <a:ext cx="8229600" cy="493776"/>
          </a:xfrm>
          <a:prstGeom prst="roundRect">
            <a:avLst>
              <a:gd name="adj" fmla="val 1851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4" name="Highlight Place data"/>
          <p:cNvSpPr/>
          <p:nvPr/>
        </p:nvSpPr>
        <p:spPr>
          <a:xfrm>
            <a:off x="5440680" y="2359152"/>
            <a:ext cx="3200400" cy="420624"/>
          </a:xfrm>
          <a:prstGeom prst="roundRect">
            <a:avLst>
              <a:gd name="adj" fmla="val 17391"/>
            </a:avLst>
          </a:prstGeom>
          <a:solidFill>
            <a:schemeClr val="accent1">
              <a:alpha val="18000"/>
            </a:schemeClr>
          </a:solidFill>
          <a:ln w="9525">
            <a:solidFill>
              <a:schemeClr val="accent1">
                <a:alpha val="45000"/>
              </a:schemeClr>
            </a:solidFill>
            <a:prstDash val="solid"/>
          </a:ln>
          <a:effectLst>
            <a:outerShdw blurRad="127000" dist="38100" dir="5400000" algn="bl" rotWithShape="0">
              <a:srgbClr val="000000">
                <a:alpha val="30000"/>
              </a:srgbClr>
            </a:outerShdw>
          </a:effectLst>
        </p:spPr>
      </p:sp>
      <p:sp>
        <p:nvSpPr>
          <p:cNvPr id="15" name="Text 12"/>
          <p:cNvSpPr txBox="1"/>
          <p:nvPr/>
        </p:nvSpPr>
        <p:spPr>
          <a:xfrm>
            <a:off x="640080" y="2322576"/>
            <a:ext cx="1554480" cy="493776"/>
          </a:xfrm>
          <a:prstGeom prst="rect">
            <a:avLst/>
          </a:prstGeom>
          <a:noFill/>
          <a:ln/>
        </p:spPr>
        <p:txBody>
          <a:bodyPr wrap="square" lIns="0" tIns="0" rIns="0" bIns="0" rtlCol="0" anchor="ctr"/>
          <a:lstStyle/>
          <a:p>
            <a:pPr marL="0" indent="0">
              <a:buNone/>
            </a:pPr>
            <a:r>
              <a:rPr lang="en-US" sz="1400" b="1" dirty="0">
                <a:solidFill>
                  <a:schemeClr val="bg1"/>
                </a:solidFill>
              </a:rPr>
              <a:t>Place data</a:t>
            </a:r>
            <a:endParaRPr lang="en-US" sz="1400" dirty="0"/>
          </a:p>
        </p:txBody>
      </p:sp>
      <p:sp>
        <p:nvSpPr>
          <p:cNvPr id="16" name="Text 13"/>
          <p:cNvSpPr txBox="1"/>
          <p:nvPr/>
        </p:nvSpPr>
        <p:spPr>
          <a:xfrm>
            <a:off x="2331720" y="2322576"/>
            <a:ext cx="3017520" cy="493776"/>
          </a:xfrm>
          <a:prstGeom prst="rect">
            <a:avLst/>
          </a:prstGeom>
          <a:noFill/>
          <a:ln/>
        </p:spPr>
        <p:txBody>
          <a:bodyPr wrap="square" lIns="0" tIns="0" rIns="0" bIns="0" rtlCol="0" anchor="ctr"/>
          <a:lstStyle/>
          <a:p>
            <a:pPr marL="0" indent="0">
              <a:buNone/>
            </a:pPr>
            <a:r>
              <a:rPr lang="en-US" sz="1400" dirty="0">
                <a:solidFill>
                  <a:schemeClr val="bg2"/>
                </a:solidFill>
              </a:rPr>
              <a:t>LLM may invent places or timings</a:t>
            </a:r>
            <a:endParaRPr lang="en-US" sz="1400" dirty="0"/>
          </a:p>
        </p:txBody>
      </p:sp>
      <p:sp>
        <p:nvSpPr>
          <p:cNvPr id="17" name="Text 14"/>
          <p:cNvSpPr txBox="1"/>
          <p:nvPr/>
        </p:nvSpPr>
        <p:spPr>
          <a:xfrm>
            <a:off x="5577840" y="2322576"/>
            <a:ext cx="3017520" cy="493776"/>
          </a:xfrm>
          <a:prstGeom prst="rect">
            <a:avLst/>
          </a:prstGeom>
          <a:noFill/>
          <a:ln/>
        </p:spPr>
        <p:txBody>
          <a:bodyPr wrap="square" lIns="0" tIns="0" rIns="0" bIns="0" rtlCol="0" anchor="ctr"/>
          <a:lstStyle/>
          <a:p>
            <a:pPr marL="0" indent="0">
              <a:buNone/>
            </a:pPr>
            <a:r>
              <a:rPr lang="en-US" sz="1400" b="1" dirty="0">
                <a:solidFill>
                  <a:schemeClr val="bg1"/>
                </a:solidFill>
              </a:rPr>
              <a:t>Curated dataset; AI only narrates</a:t>
            </a:r>
            <a:endParaRPr lang="en-US" sz="1400" dirty="0"/>
          </a:p>
        </p:txBody>
      </p:sp>
      <p:sp>
        <p:nvSpPr>
          <p:cNvPr id="18" name="Row Route logic"/>
          <p:cNvSpPr/>
          <p:nvPr/>
        </p:nvSpPr>
        <p:spPr>
          <a:xfrm>
            <a:off x="457200" y="2889504"/>
            <a:ext cx="8229600" cy="493776"/>
          </a:xfrm>
          <a:prstGeom prst="roundRect">
            <a:avLst>
              <a:gd name="adj" fmla="val 1851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9" name="Highlight Route logic"/>
          <p:cNvSpPr/>
          <p:nvPr/>
        </p:nvSpPr>
        <p:spPr>
          <a:xfrm>
            <a:off x="5440680" y="2926080"/>
            <a:ext cx="3200400" cy="420624"/>
          </a:xfrm>
          <a:prstGeom prst="roundRect">
            <a:avLst>
              <a:gd name="adj" fmla="val 17391"/>
            </a:avLst>
          </a:prstGeom>
          <a:solidFill>
            <a:schemeClr val="accent1">
              <a:alpha val="18000"/>
            </a:schemeClr>
          </a:solidFill>
          <a:ln w="9525">
            <a:solidFill>
              <a:schemeClr val="accent1">
                <a:alpha val="45000"/>
              </a:schemeClr>
            </a:solidFill>
            <a:prstDash val="solid"/>
          </a:ln>
          <a:effectLst>
            <a:outerShdw blurRad="127000" dist="38100" dir="5400000" algn="bl" rotWithShape="0">
              <a:srgbClr val="000000">
                <a:alpha val="30000"/>
              </a:srgbClr>
            </a:outerShdw>
          </a:effectLst>
        </p:spPr>
      </p:sp>
      <p:sp>
        <p:nvSpPr>
          <p:cNvPr id="20" name="Text 17"/>
          <p:cNvSpPr txBox="1"/>
          <p:nvPr/>
        </p:nvSpPr>
        <p:spPr>
          <a:xfrm>
            <a:off x="640080" y="2889504"/>
            <a:ext cx="1554480" cy="493776"/>
          </a:xfrm>
          <a:prstGeom prst="rect">
            <a:avLst/>
          </a:prstGeom>
          <a:noFill/>
          <a:ln/>
        </p:spPr>
        <p:txBody>
          <a:bodyPr wrap="square" lIns="0" tIns="0" rIns="0" bIns="0" rtlCol="0" anchor="ctr"/>
          <a:lstStyle/>
          <a:p>
            <a:pPr marL="0" indent="0">
              <a:buNone/>
            </a:pPr>
            <a:r>
              <a:rPr lang="en-US" sz="1400" b="1" dirty="0">
                <a:solidFill>
                  <a:schemeClr val="bg1"/>
                </a:solidFill>
              </a:rPr>
              <a:t>Route logic</a:t>
            </a:r>
            <a:endParaRPr lang="en-US" sz="1400" dirty="0"/>
          </a:p>
        </p:txBody>
      </p:sp>
      <p:sp>
        <p:nvSpPr>
          <p:cNvPr id="21" name="Text 18"/>
          <p:cNvSpPr txBox="1"/>
          <p:nvPr/>
        </p:nvSpPr>
        <p:spPr>
          <a:xfrm>
            <a:off x="2331720" y="2889504"/>
            <a:ext cx="3017520" cy="493776"/>
          </a:xfrm>
          <a:prstGeom prst="rect">
            <a:avLst/>
          </a:prstGeom>
          <a:noFill/>
          <a:ln/>
        </p:spPr>
        <p:txBody>
          <a:bodyPr wrap="square" lIns="0" tIns="0" rIns="0" bIns="0" rtlCol="0" anchor="ctr"/>
          <a:lstStyle/>
          <a:p>
            <a:pPr marL="0" indent="0">
              <a:buNone/>
            </a:pPr>
            <a:r>
              <a:rPr lang="en-US" sz="1400" dirty="0">
                <a:solidFill>
                  <a:schemeClr val="bg2"/>
                </a:solidFill>
              </a:rPr>
              <a:t>Zig-zag, manual stitching</a:t>
            </a:r>
            <a:endParaRPr lang="en-US" sz="1400" dirty="0"/>
          </a:p>
        </p:txBody>
      </p:sp>
      <p:sp>
        <p:nvSpPr>
          <p:cNvPr id="22" name="Text 19"/>
          <p:cNvSpPr txBox="1"/>
          <p:nvPr/>
        </p:nvSpPr>
        <p:spPr>
          <a:xfrm>
            <a:off x="5577840" y="2889504"/>
            <a:ext cx="3017520" cy="493776"/>
          </a:xfrm>
          <a:prstGeom prst="rect">
            <a:avLst/>
          </a:prstGeom>
          <a:noFill/>
          <a:ln/>
        </p:spPr>
        <p:txBody>
          <a:bodyPr wrap="square" lIns="0" tIns="0" rIns="0" bIns="0" rtlCol="0" anchor="ctr"/>
          <a:lstStyle/>
          <a:p>
            <a:pPr marL="0" indent="0">
              <a:buNone/>
            </a:pPr>
            <a:r>
              <a:rPr lang="en-US" sz="1400" b="1" dirty="0">
                <a:solidFill>
                  <a:schemeClr val="bg1"/>
                </a:solidFill>
              </a:rPr>
              <a:t>Geo-clustered, nearest-neighbour</a:t>
            </a:r>
            <a:endParaRPr lang="en-US" sz="1400" dirty="0"/>
          </a:p>
        </p:txBody>
      </p:sp>
      <p:sp>
        <p:nvSpPr>
          <p:cNvPr id="23" name="Row Budget"/>
          <p:cNvSpPr/>
          <p:nvPr/>
        </p:nvSpPr>
        <p:spPr>
          <a:xfrm>
            <a:off x="457200" y="3456432"/>
            <a:ext cx="8229600" cy="493776"/>
          </a:xfrm>
          <a:prstGeom prst="roundRect">
            <a:avLst>
              <a:gd name="adj" fmla="val 1851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4" name="Highlight Budget"/>
          <p:cNvSpPr/>
          <p:nvPr/>
        </p:nvSpPr>
        <p:spPr>
          <a:xfrm>
            <a:off x="5440680" y="3493008"/>
            <a:ext cx="3200400" cy="420624"/>
          </a:xfrm>
          <a:prstGeom prst="roundRect">
            <a:avLst>
              <a:gd name="adj" fmla="val 17391"/>
            </a:avLst>
          </a:prstGeom>
          <a:solidFill>
            <a:schemeClr val="accent1">
              <a:alpha val="18000"/>
            </a:schemeClr>
          </a:solidFill>
          <a:ln w="9525">
            <a:solidFill>
              <a:schemeClr val="accent1">
                <a:alpha val="45000"/>
              </a:schemeClr>
            </a:solidFill>
            <a:prstDash val="solid"/>
          </a:ln>
          <a:effectLst>
            <a:outerShdw blurRad="127000" dist="38100" dir="5400000" algn="bl" rotWithShape="0">
              <a:srgbClr val="000000">
                <a:alpha val="30000"/>
              </a:srgbClr>
            </a:outerShdw>
          </a:effectLst>
        </p:spPr>
      </p:sp>
      <p:sp>
        <p:nvSpPr>
          <p:cNvPr id="25" name="Text 22"/>
          <p:cNvSpPr txBox="1"/>
          <p:nvPr/>
        </p:nvSpPr>
        <p:spPr>
          <a:xfrm>
            <a:off x="640080" y="3456432"/>
            <a:ext cx="1554480" cy="493776"/>
          </a:xfrm>
          <a:prstGeom prst="rect">
            <a:avLst/>
          </a:prstGeom>
          <a:noFill/>
          <a:ln/>
        </p:spPr>
        <p:txBody>
          <a:bodyPr wrap="square" lIns="0" tIns="0" rIns="0" bIns="0" rtlCol="0" anchor="ctr"/>
          <a:lstStyle/>
          <a:p>
            <a:pPr marL="0" indent="0">
              <a:buNone/>
            </a:pPr>
            <a:r>
              <a:rPr lang="en-US" sz="1400" b="1" dirty="0">
                <a:solidFill>
                  <a:schemeClr val="bg1"/>
                </a:solidFill>
              </a:rPr>
              <a:t>Budget</a:t>
            </a:r>
            <a:endParaRPr lang="en-US" sz="1400" dirty="0"/>
          </a:p>
        </p:txBody>
      </p:sp>
      <p:sp>
        <p:nvSpPr>
          <p:cNvPr id="26" name="Text 23"/>
          <p:cNvSpPr txBox="1"/>
          <p:nvPr/>
        </p:nvSpPr>
        <p:spPr>
          <a:xfrm>
            <a:off x="2331720" y="3456432"/>
            <a:ext cx="3017520" cy="493776"/>
          </a:xfrm>
          <a:prstGeom prst="rect">
            <a:avLst/>
          </a:prstGeom>
          <a:noFill/>
          <a:ln/>
        </p:spPr>
        <p:txBody>
          <a:bodyPr wrap="square" lIns="0" tIns="0" rIns="0" bIns="0" rtlCol="0" anchor="ctr"/>
          <a:lstStyle/>
          <a:p>
            <a:pPr marL="0" indent="0">
              <a:buNone/>
            </a:pPr>
            <a:r>
              <a:rPr lang="en-US" sz="1400" dirty="0">
                <a:solidFill>
                  <a:schemeClr val="bg2"/>
                </a:solidFill>
              </a:rPr>
              <a:t>Rough totals, no breakdown</a:t>
            </a:r>
            <a:endParaRPr lang="en-US" sz="1400" dirty="0"/>
          </a:p>
        </p:txBody>
      </p:sp>
      <p:sp>
        <p:nvSpPr>
          <p:cNvPr id="27" name="Text 24"/>
          <p:cNvSpPr txBox="1"/>
          <p:nvPr/>
        </p:nvSpPr>
        <p:spPr>
          <a:xfrm>
            <a:off x="5577840" y="3456432"/>
            <a:ext cx="3017520" cy="493776"/>
          </a:xfrm>
          <a:prstGeom prst="rect">
            <a:avLst/>
          </a:prstGeom>
          <a:noFill/>
          <a:ln/>
        </p:spPr>
        <p:txBody>
          <a:bodyPr wrap="square" lIns="0" tIns="0" rIns="0" bIns="0" rtlCol="0" anchor="ctr"/>
          <a:lstStyle/>
          <a:p>
            <a:pPr marL="0" indent="0">
              <a:buNone/>
            </a:pPr>
            <a:r>
              <a:rPr lang="en-US" sz="1400" b="1" dirty="0">
                <a:solidFill>
                  <a:schemeClr val="bg1"/>
                </a:solidFill>
              </a:rPr>
              <a:t>Stay, food, transport and fees split</a:t>
            </a:r>
            <a:endParaRPr lang="en-US" sz="1400" dirty="0"/>
          </a:p>
        </p:txBody>
      </p:sp>
      <p:sp>
        <p:nvSpPr>
          <p:cNvPr id="28" name="Row Language"/>
          <p:cNvSpPr/>
          <p:nvPr/>
        </p:nvSpPr>
        <p:spPr>
          <a:xfrm>
            <a:off x="457200" y="4023360"/>
            <a:ext cx="8229600" cy="493776"/>
          </a:xfrm>
          <a:prstGeom prst="roundRect">
            <a:avLst>
              <a:gd name="adj" fmla="val 1851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9" name="Highlight Language"/>
          <p:cNvSpPr/>
          <p:nvPr/>
        </p:nvSpPr>
        <p:spPr>
          <a:xfrm>
            <a:off x="5440680" y="4059936"/>
            <a:ext cx="3200400" cy="420624"/>
          </a:xfrm>
          <a:prstGeom prst="roundRect">
            <a:avLst>
              <a:gd name="adj" fmla="val 17391"/>
            </a:avLst>
          </a:prstGeom>
          <a:solidFill>
            <a:schemeClr val="accent1">
              <a:alpha val="18000"/>
            </a:schemeClr>
          </a:solidFill>
          <a:ln w="9525">
            <a:solidFill>
              <a:schemeClr val="accent1">
                <a:alpha val="45000"/>
              </a:schemeClr>
            </a:solidFill>
            <a:prstDash val="solid"/>
          </a:ln>
          <a:effectLst>
            <a:outerShdw blurRad="127000" dist="38100" dir="5400000" algn="bl" rotWithShape="0">
              <a:srgbClr val="000000">
                <a:alpha val="30000"/>
              </a:srgbClr>
            </a:outerShdw>
          </a:effectLst>
        </p:spPr>
      </p:sp>
      <p:sp>
        <p:nvSpPr>
          <p:cNvPr id="30" name="Text 27"/>
          <p:cNvSpPr txBox="1"/>
          <p:nvPr/>
        </p:nvSpPr>
        <p:spPr>
          <a:xfrm>
            <a:off x="640080" y="4023360"/>
            <a:ext cx="1554480" cy="493776"/>
          </a:xfrm>
          <a:prstGeom prst="rect">
            <a:avLst/>
          </a:prstGeom>
          <a:noFill/>
          <a:ln/>
        </p:spPr>
        <p:txBody>
          <a:bodyPr wrap="square" lIns="0" tIns="0" rIns="0" bIns="0" rtlCol="0" anchor="ctr"/>
          <a:lstStyle/>
          <a:p>
            <a:pPr marL="0" indent="0">
              <a:buNone/>
            </a:pPr>
            <a:r>
              <a:rPr lang="en-US" sz="1400" b="1" dirty="0">
                <a:solidFill>
                  <a:schemeClr val="bg1"/>
                </a:solidFill>
              </a:rPr>
              <a:t>Language</a:t>
            </a:r>
            <a:endParaRPr lang="en-US" sz="1400" dirty="0"/>
          </a:p>
        </p:txBody>
      </p:sp>
      <p:sp>
        <p:nvSpPr>
          <p:cNvPr id="31" name="Text 28"/>
          <p:cNvSpPr txBox="1"/>
          <p:nvPr/>
        </p:nvSpPr>
        <p:spPr>
          <a:xfrm>
            <a:off x="2331720" y="4023360"/>
            <a:ext cx="3017520" cy="493776"/>
          </a:xfrm>
          <a:prstGeom prst="rect">
            <a:avLst/>
          </a:prstGeom>
          <a:noFill/>
          <a:ln/>
        </p:spPr>
        <p:txBody>
          <a:bodyPr wrap="square" lIns="0" tIns="0" rIns="0" bIns="0" rtlCol="0" anchor="ctr"/>
          <a:lstStyle/>
          <a:p>
            <a:pPr marL="0" indent="0">
              <a:buNone/>
            </a:pPr>
            <a:r>
              <a:rPr lang="en-US" sz="1400" dirty="0">
                <a:solidFill>
                  <a:schemeClr val="bg2"/>
                </a:solidFill>
              </a:rPr>
              <a:t>English only</a:t>
            </a:r>
            <a:endParaRPr lang="en-US" sz="1400" dirty="0"/>
          </a:p>
        </p:txBody>
      </p:sp>
      <p:sp>
        <p:nvSpPr>
          <p:cNvPr id="32" name="Text 29"/>
          <p:cNvSpPr txBox="1"/>
          <p:nvPr/>
        </p:nvSpPr>
        <p:spPr>
          <a:xfrm>
            <a:off x="5577840" y="4023360"/>
            <a:ext cx="3017520" cy="493776"/>
          </a:xfrm>
          <a:prstGeom prst="rect">
            <a:avLst/>
          </a:prstGeom>
          <a:noFill/>
          <a:ln/>
        </p:spPr>
        <p:txBody>
          <a:bodyPr wrap="square" lIns="0" tIns="0" rIns="0" bIns="0" rtlCol="0" anchor="ctr"/>
          <a:lstStyle/>
          <a:p>
            <a:pPr marL="0" indent="0">
              <a:buNone/>
            </a:pPr>
            <a:r>
              <a:rPr lang="en-US" sz="1400" b="1" dirty="0">
                <a:solidFill>
                  <a:schemeClr val="bg1"/>
                </a:solidFill>
              </a:rPr>
              <a:t>English / </a:t>
            </a:r>
            <a:r>
              <a:rPr lang="en-US" sz="1400" b="1" dirty="0">
                <a:solidFill>
                  <a:schemeClr val="bg1"/>
                </a:solidFill>
                <a:latin typeface="Nirmala UI" pitchFamily="34" charset="0"/>
                <a:ea typeface="Nirmala UI" pitchFamily="34" charset="-122"/>
                <a:cs typeface="Nirmala UI" pitchFamily="34" charset="-120"/>
              </a:rPr>
              <a:t>ಕನ್ನಡ</a:t>
            </a:r>
            <a:r>
              <a:rPr lang="en-US" sz="1400" b="1" dirty="0">
                <a:solidFill>
                  <a:schemeClr val="bg1"/>
                </a:solidFill>
              </a:rPr>
              <a:t> + phrases</a:t>
            </a:r>
            <a:endParaRPr lang="en-US" sz="14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Our Approach</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ನಮ್ಮ ವಿಧಾನ</a:t>
            </a:r>
            <a:endParaRPr lang="en-US" sz="1600" dirty="0"/>
          </a:p>
        </p:txBody>
      </p:sp>
      <p:sp>
        <p:nvSpPr>
          <p:cNvPr id="5" name="Step 1"/>
          <p:cNvSpPr/>
          <p:nvPr/>
        </p:nvSpPr>
        <p:spPr>
          <a:xfrm>
            <a:off x="457200" y="1417320"/>
            <a:ext cx="5394960" cy="54864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ClipboardList"/>
          <p:cNvSpPr/>
          <p:nvPr/>
        </p:nvSpPr>
        <p:spPr>
          <a:xfrm>
            <a:off x="566928" y="1490472"/>
            <a:ext cx="402336" cy="402336"/>
          </a:xfrm>
          <a:prstGeom prst="ellipse">
            <a:avLst/>
          </a:prstGeom>
          <a:solidFill>
            <a:schemeClr val="accent1"/>
          </a:solidFill>
          <a:ln/>
        </p:spPr>
      </p:sp>
      <p:pic>
        <p:nvPicPr>
          <p:cNvPr id="7" name="Image 0" descr="ClipboardList icon"/>
          <p:cNvPicPr>
            <a:picLocks noChangeAspect="1"/>
          </p:cNvPicPr>
          <p:nvPr/>
        </p:nvPicPr>
        <p:blipFill>
          <a:blip r:embed="rId3"/>
          <a:stretch>
            <a:fillRect/>
          </a:stretch>
        </p:blipFill>
        <p:spPr>
          <a:xfrm>
            <a:off x="667512" y="1591056"/>
            <a:ext cx="201168" cy="201168"/>
          </a:xfrm>
          <a:prstGeom prst="rect">
            <a:avLst/>
          </a:prstGeom>
        </p:spPr>
      </p:pic>
      <p:sp>
        <p:nvSpPr>
          <p:cNvPr id="8" name="Text 4"/>
          <p:cNvSpPr txBox="1"/>
          <p:nvPr/>
        </p:nvSpPr>
        <p:spPr>
          <a:xfrm>
            <a:off x="1097280" y="1417320"/>
            <a:ext cx="4663440" cy="548640"/>
          </a:xfrm>
          <a:prstGeom prst="rect">
            <a:avLst/>
          </a:prstGeom>
          <a:noFill/>
          <a:ln/>
        </p:spPr>
        <p:txBody>
          <a:bodyPr wrap="square" lIns="0" tIns="0" rIns="0" bIns="0" rtlCol="0" anchor="ctr"/>
          <a:lstStyle/>
          <a:p>
            <a:pPr marL="0" indent="0">
              <a:buNone/>
            </a:pPr>
            <a:r>
              <a:rPr lang="en-US" sz="1500" b="1" dirty="0">
                <a:solidFill>
                  <a:schemeClr val="bg1"/>
                </a:solidFill>
              </a:rPr>
              <a:t>1  Understand</a:t>
            </a:r>
            <a:endParaRPr lang="en-US" sz="1500" dirty="0"/>
          </a:p>
          <a:p>
            <a:pPr marL="0" indent="0">
              <a:buNone/>
            </a:pPr>
            <a:r>
              <a:rPr lang="en-US" sz="1400" dirty="0">
                <a:solidFill>
                  <a:schemeClr val="bg2"/>
                </a:solidFill>
              </a:rPr>
              <a:t>Interests, days, budget, style, month</a:t>
            </a:r>
            <a:endParaRPr lang="en-US" sz="1500" dirty="0"/>
          </a:p>
        </p:txBody>
      </p:sp>
      <p:sp>
        <p:nvSpPr>
          <p:cNvPr id="9" name="Step 2"/>
          <p:cNvSpPr/>
          <p:nvPr/>
        </p:nvSpPr>
        <p:spPr>
          <a:xfrm>
            <a:off x="457200" y="2057400"/>
            <a:ext cx="5394960" cy="54864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0" name="Icon circle FaBullseye"/>
          <p:cNvSpPr/>
          <p:nvPr/>
        </p:nvSpPr>
        <p:spPr>
          <a:xfrm>
            <a:off x="566928" y="2130552"/>
            <a:ext cx="402336" cy="402336"/>
          </a:xfrm>
          <a:prstGeom prst="ellipse">
            <a:avLst/>
          </a:prstGeom>
          <a:solidFill>
            <a:schemeClr val="accent3"/>
          </a:solidFill>
          <a:ln/>
        </p:spPr>
      </p:sp>
      <p:pic>
        <p:nvPicPr>
          <p:cNvPr id="11" name="Image 1" descr="Bullseye icon"/>
          <p:cNvPicPr>
            <a:picLocks noChangeAspect="1"/>
          </p:cNvPicPr>
          <p:nvPr/>
        </p:nvPicPr>
        <p:blipFill>
          <a:blip r:embed="rId4"/>
          <a:stretch>
            <a:fillRect/>
          </a:stretch>
        </p:blipFill>
        <p:spPr>
          <a:xfrm>
            <a:off x="667512" y="2231136"/>
            <a:ext cx="201168" cy="201168"/>
          </a:xfrm>
          <a:prstGeom prst="rect">
            <a:avLst/>
          </a:prstGeom>
        </p:spPr>
      </p:pic>
      <p:sp>
        <p:nvSpPr>
          <p:cNvPr id="12" name="Text 7"/>
          <p:cNvSpPr txBox="1"/>
          <p:nvPr/>
        </p:nvSpPr>
        <p:spPr>
          <a:xfrm>
            <a:off x="1097280" y="2057400"/>
            <a:ext cx="4663440" cy="548640"/>
          </a:xfrm>
          <a:prstGeom prst="rect">
            <a:avLst/>
          </a:prstGeom>
          <a:noFill/>
          <a:ln/>
        </p:spPr>
        <p:txBody>
          <a:bodyPr wrap="square" lIns="0" tIns="0" rIns="0" bIns="0" rtlCol="0" anchor="ctr"/>
          <a:lstStyle/>
          <a:p>
            <a:pPr marL="0" indent="0">
              <a:buNone/>
            </a:pPr>
            <a:r>
              <a:rPr lang="en-US" sz="1500" b="1" dirty="0">
                <a:solidFill>
                  <a:schemeClr val="bg1"/>
                </a:solidFill>
              </a:rPr>
              <a:t>2  Score and match</a:t>
            </a:r>
            <a:endParaRPr lang="en-US" sz="1500" dirty="0"/>
          </a:p>
          <a:p>
            <a:pPr marL="0" indent="0">
              <a:buNone/>
            </a:pPr>
            <a:r>
              <a:rPr lang="en-US" sz="1400" dirty="0">
                <a:solidFill>
                  <a:schemeClr val="bg2"/>
                </a:solidFill>
              </a:rPr>
              <a:t>Rank places by interest and best season</a:t>
            </a:r>
            <a:endParaRPr lang="en-US" sz="1500" dirty="0"/>
          </a:p>
        </p:txBody>
      </p:sp>
      <p:sp>
        <p:nvSpPr>
          <p:cNvPr id="13" name="Step 3"/>
          <p:cNvSpPr/>
          <p:nvPr/>
        </p:nvSpPr>
        <p:spPr>
          <a:xfrm>
            <a:off x="457200" y="2697480"/>
            <a:ext cx="5394960" cy="54864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4" name="Icon circle FaRoute"/>
          <p:cNvSpPr/>
          <p:nvPr/>
        </p:nvSpPr>
        <p:spPr>
          <a:xfrm>
            <a:off x="566928" y="2770632"/>
            <a:ext cx="402336" cy="402336"/>
          </a:xfrm>
          <a:prstGeom prst="ellipse">
            <a:avLst/>
          </a:prstGeom>
          <a:solidFill>
            <a:schemeClr val="accent4"/>
          </a:solidFill>
          <a:ln/>
        </p:spPr>
      </p:sp>
      <p:pic>
        <p:nvPicPr>
          <p:cNvPr id="15" name="Image 2" descr="Route icon"/>
          <p:cNvPicPr>
            <a:picLocks noChangeAspect="1"/>
          </p:cNvPicPr>
          <p:nvPr/>
        </p:nvPicPr>
        <p:blipFill>
          <a:blip r:embed="rId5"/>
          <a:stretch>
            <a:fillRect/>
          </a:stretch>
        </p:blipFill>
        <p:spPr>
          <a:xfrm>
            <a:off x="667512" y="2871216"/>
            <a:ext cx="201168" cy="201168"/>
          </a:xfrm>
          <a:prstGeom prst="rect">
            <a:avLst/>
          </a:prstGeom>
        </p:spPr>
      </p:pic>
      <p:sp>
        <p:nvSpPr>
          <p:cNvPr id="16" name="Text 10"/>
          <p:cNvSpPr txBox="1"/>
          <p:nvPr/>
        </p:nvSpPr>
        <p:spPr>
          <a:xfrm>
            <a:off x="1097280" y="2697480"/>
            <a:ext cx="4663440" cy="548640"/>
          </a:xfrm>
          <a:prstGeom prst="rect">
            <a:avLst/>
          </a:prstGeom>
          <a:noFill/>
          <a:ln/>
        </p:spPr>
        <p:txBody>
          <a:bodyPr wrap="square" lIns="0" tIns="0" rIns="0" bIns="0" rtlCol="0" anchor="ctr"/>
          <a:lstStyle/>
          <a:p>
            <a:pPr marL="0" indent="0">
              <a:buNone/>
            </a:pPr>
            <a:r>
              <a:rPr lang="en-US" sz="1500" b="1" dirty="0">
                <a:solidFill>
                  <a:schemeClr val="bg1"/>
                </a:solidFill>
              </a:rPr>
              <a:t>3  Cluster and route</a:t>
            </a:r>
            <a:endParaRPr lang="en-US" sz="1500" dirty="0"/>
          </a:p>
          <a:p>
            <a:pPr marL="0" indent="0">
              <a:buNone/>
            </a:pPr>
            <a:r>
              <a:rPr lang="en-US" sz="1400" dirty="0">
                <a:solidFill>
                  <a:schemeClr val="bg2"/>
                </a:solidFill>
              </a:rPr>
              <a:t>One region per day, nearest-neighbour order</a:t>
            </a:r>
            <a:endParaRPr lang="en-US" sz="1500" dirty="0"/>
          </a:p>
        </p:txBody>
      </p:sp>
      <p:sp>
        <p:nvSpPr>
          <p:cNvPr id="17" name="Step 4"/>
          <p:cNvSpPr/>
          <p:nvPr/>
        </p:nvSpPr>
        <p:spPr>
          <a:xfrm>
            <a:off x="457200" y="3337560"/>
            <a:ext cx="5394960" cy="54864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8" name="Icon circle FaWallet"/>
          <p:cNvSpPr/>
          <p:nvPr/>
        </p:nvSpPr>
        <p:spPr>
          <a:xfrm>
            <a:off x="566928" y="3410712"/>
            <a:ext cx="402336" cy="402336"/>
          </a:xfrm>
          <a:prstGeom prst="ellipse">
            <a:avLst/>
          </a:prstGeom>
          <a:solidFill>
            <a:schemeClr val="accent2"/>
          </a:solidFill>
          <a:ln/>
        </p:spPr>
      </p:sp>
      <p:pic>
        <p:nvPicPr>
          <p:cNvPr id="19" name="Image 3" descr="Wallet icon"/>
          <p:cNvPicPr>
            <a:picLocks noChangeAspect="1"/>
          </p:cNvPicPr>
          <p:nvPr/>
        </p:nvPicPr>
        <p:blipFill>
          <a:blip r:embed="rId6"/>
          <a:stretch>
            <a:fillRect/>
          </a:stretch>
        </p:blipFill>
        <p:spPr>
          <a:xfrm>
            <a:off x="667512" y="3511296"/>
            <a:ext cx="201168" cy="201168"/>
          </a:xfrm>
          <a:prstGeom prst="rect">
            <a:avLst/>
          </a:prstGeom>
        </p:spPr>
      </p:pic>
      <p:sp>
        <p:nvSpPr>
          <p:cNvPr id="20" name="Text 13"/>
          <p:cNvSpPr txBox="1"/>
          <p:nvPr/>
        </p:nvSpPr>
        <p:spPr>
          <a:xfrm>
            <a:off x="1097280" y="3337560"/>
            <a:ext cx="4663440" cy="548640"/>
          </a:xfrm>
          <a:prstGeom prst="rect">
            <a:avLst/>
          </a:prstGeom>
          <a:noFill/>
          <a:ln/>
        </p:spPr>
        <p:txBody>
          <a:bodyPr wrap="square" lIns="0" tIns="0" rIns="0" bIns="0" rtlCol="0" anchor="ctr"/>
          <a:lstStyle/>
          <a:p>
            <a:pPr marL="0" indent="0">
              <a:buNone/>
            </a:pPr>
            <a:r>
              <a:rPr lang="en-US" sz="1500" b="1" dirty="0">
                <a:solidFill>
                  <a:schemeClr val="bg1"/>
                </a:solidFill>
              </a:rPr>
              <a:t>4  Fit the budget</a:t>
            </a:r>
            <a:endParaRPr lang="en-US" sz="1500" dirty="0"/>
          </a:p>
          <a:p>
            <a:pPr marL="0" indent="0">
              <a:buNone/>
            </a:pPr>
            <a:r>
              <a:rPr lang="en-US" sz="1400" dirty="0">
                <a:solidFill>
                  <a:schemeClr val="bg2"/>
                </a:solidFill>
              </a:rPr>
              <a:t>Auto stay tier, fees, food and transport</a:t>
            </a:r>
            <a:endParaRPr lang="en-US" sz="1500" dirty="0"/>
          </a:p>
        </p:txBody>
      </p:sp>
      <p:sp>
        <p:nvSpPr>
          <p:cNvPr id="21" name="Step 5"/>
          <p:cNvSpPr/>
          <p:nvPr/>
        </p:nvSpPr>
        <p:spPr>
          <a:xfrm>
            <a:off x="457200" y="3977640"/>
            <a:ext cx="5394960" cy="54864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2" name="Icon circle FaMagic"/>
          <p:cNvSpPr/>
          <p:nvPr/>
        </p:nvSpPr>
        <p:spPr>
          <a:xfrm>
            <a:off x="566928" y="4050792"/>
            <a:ext cx="402336" cy="402336"/>
          </a:xfrm>
          <a:prstGeom prst="ellipse">
            <a:avLst/>
          </a:prstGeom>
          <a:solidFill>
            <a:schemeClr val="accent1"/>
          </a:solidFill>
          <a:ln/>
        </p:spPr>
      </p:sp>
      <p:pic>
        <p:nvPicPr>
          <p:cNvPr id="23" name="Image 4" descr="Magic icon"/>
          <p:cNvPicPr>
            <a:picLocks noChangeAspect="1"/>
          </p:cNvPicPr>
          <p:nvPr/>
        </p:nvPicPr>
        <p:blipFill>
          <a:blip r:embed="rId7"/>
          <a:stretch>
            <a:fillRect/>
          </a:stretch>
        </p:blipFill>
        <p:spPr>
          <a:xfrm>
            <a:off x="667512" y="4151376"/>
            <a:ext cx="201168" cy="201168"/>
          </a:xfrm>
          <a:prstGeom prst="rect">
            <a:avLst/>
          </a:prstGeom>
        </p:spPr>
      </p:pic>
      <p:sp>
        <p:nvSpPr>
          <p:cNvPr id="24" name="Text 16"/>
          <p:cNvSpPr txBox="1"/>
          <p:nvPr/>
        </p:nvSpPr>
        <p:spPr>
          <a:xfrm>
            <a:off x="1097280" y="3977640"/>
            <a:ext cx="4663440" cy="548640"/>
          </a:xfrm>
          <a:prstGeom prst="rect">
            <a:avLst/>
          </a:prstGeom>
          <a:noFill/>
          <a:ln/>
        </p:spPr>
        <p:txBody>
          <a:bodyPr wrap="square" lIns="0" tIns="0" rIns="0" bIns="0" rtlCol="0" anchor="ctr"/>
          <a:lstStyle/>
          <a:p>
            <a:pPr marL="0" indent="0">
              <a:buNone/>
            </a:pPr>
            <a:r>
              <a:rPr lang="en-US" sz="1500" b="1" dirty="0">
                <a:solidFill>
                  <a:schemeClr val="bg1"/>
                </a:solidFill>
              </a:rPr>
              <a:t>5  Narrate</a:t>
            </a:r>
            <a:endParaRPr lang="en-US" sz="1500" dirty="0"/>
          </a:p>
          <a:p>
            <a:pPr marL="0" indent="0">
              <a:buNone/>
            </a:pPr>
            <a:r>
              <a:rPr lang="en-US" sz="1400" dirty="0">
                <a:solidFill>
                  <a:schemeClr val="bg2"/>
                </a:solidFill>
              </a:rPr>
              <a:t>AI explains in English or </a:t>
            </a:r>
            <a:r>
              <a:rPr lang="en-US" sz="1400" dirty="0">
                <a:solidFill>
                  <a:schemeClr val="bg2"/>
                </a:solidFill>
                <a:latin typeface="Nirmala UI" pitchFamily="34" charset="0"/>
                <a:ea typeface="Nirmala UI" pitchFamily="34" charset="-122"/>
                <a:cs typeface="Nirmala UI" pitchFamily="34" charset="-120"/>
              </a:rPr>
              <a:t>ಕನ್ನಡ</a:t>
            </a:r>
            <a:endParaRPr lang="en-US" sz="1500" dirty="0"/>
          </a:p>
        </p:txBody>
      </p:sp>
      <p:sp>
        <p:nvSpPr>
          <p:cNvPr id="25" name="Card design decisions"/>
          <p:cNvSpPr/>
          <p:nvPr/>
        </p:nvSpPr>
        <p:spPr>
          <a:xfrm>
            <a:off x="6035040" y="1417320"/>
            <a:ext cx="2651760" cy="3108960"/>
          </a:xfrm>
          <a:prstGeom prst="roundRect">
            <a:avLst>
              <a:gd name="adj" fmla="val 4828"/>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6" name="Text 18"/>
          <p:cNvSpPr txBox="1"/>
          <p:nvPr/>
        </p:nvSpPr>
        <p:spPr>
          <a:xfrm>
            <a:off x="6217920" y="1572768"/>
            <a:ext cx="2286000" cy="320040"/>
          </a:xfrm>
          <a:prstGeom prst="rect">
            <a:avLst/>
          </a:prstGeom>
          <a:noFill/>
          <a:ln/>
        </p:spPr>
        <p:txBody>
          <a:bodyPr wrap="square" lIns="0" tIns="0" rIns="0" bIns="0" rtlCol="0" anchor="ctr"/>
          <a:lstStyle/>
          <a:p>
            <a:pPr marL="0" indent="0">
              <a:buNone/>
            </a:pPr>
            <a:r>
              <a:rPr lang="en-US" sz="1600" b="1" dirty="0">
                <a:solidFill>
                  <a:schemeClr val="accent1"/>
                </a:solidFill>
              </a:rPr>
              <a:t>Key design decisions</a:t>
            </a:r>
            <a:endParaRPr lang="en-US" sz="1600" dirty="0"/>
          </a:p>
        </p:txBody>
      </p:sp>
      <p:sp>
        <p:nvSpPr>
          <p:cNvPr id="27" name="Text 19"/>
          <p:cNvSpPr txBox="1"/>
          <p:nvPr/>
        </p:nvSpPr>
        <p:spPr>
          <a:xfrm>
            <a:off x="6217920" y="2011680"/>
            <a:ext cx="233172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Data first, AI second: the engine decides, the AI explains</a:t>
            </a:r>
            <a:endParaRPr lang="en-US" sz="1400" dirty="0"/>
          </a:p>
          <a:p>
            <a:pPr marL="177800" indent="-177800">
              <a:spcAft>
                <a:spcPts val="600"/>
              </a:spcAft>
              <a:buSzPct val="100000"/>
              <a:buChar char="•"/>
            </a:pPr>
            <a:r>
              <a:rPr lang="en-US" sz="1400" dirty="0">
                <a:solidFill>
                  <a:schemeClr val="bg1"/>
                </a:solidFill>
              </a:rPr>
              <a:t>Geography beats guesswork: no zig-zag days</a:t>
            </a:r>
            <a:endParaRPr lang="en-US" sz="1400" dirty="0"/>
          </a:p>
          <a:p>
            <a:pPr marL="177800" indent="-177800">
              <a:spcAft>
                <a:spcPts val="600"/>
              </a:spcAft>
              <a:buSzPct val="100000"/>
              <a:buChar char="•"/>
            </a:pPr>
            <a:r>
              <a:rPr lang="en-US" sz="1400" dirty="0">
                <a:solidFill>
                  <a:schemeClr val="bg1"/>
                </a:solidFill>
              </a:rPr>
              <a:t>Works with or without an API key</a:t>
            </a:r>
            <a:endParaRPr lang="en-US" sz="1400" dirty="0"/>
          </a:p>
        </p:txBody>
      </p:sp>
      <p:sp>
        <p:nvSpPr>
          <p:cNvPr id="28" name="Flow chip"/>
          <p:cNvSpPr/>
          <p:nvPr/>
        </p:nvSpPr>
        <p:spPr>
          <a:xfrm>
            <a:off x="6217920" y="3840480"/>
            <a:ext cx="2286000" cy="530352"/>
          </a:xfrm>
          <a:prstGeom prst="roundRect">
            <a:avLst>
              <a:gd name="adj" fmla="val 50000"/>
            </a:avLst>
          </a:prstGeom>
          <a:solidFill>
            <a:schemeClr val="bg1">
              <a:alpha val="18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9" name="Text 21"/>
          <p:cNvSpPr txBox="1"/>
          <p:nvPr/>
        </p:nvSpPr>
        <p:spPr>
          <a:xfrm>
            <a:off x="6217920" y="3840480"/>
            <a:ext cx="2286000" cy="530352"/>
          </a:xfrm>
          <a:prstGeom prst="rect">
            <a:avLst/>
          </a:prstGeom>
          <a:noFill/>
          <a:ln/>
        </p:spPr>
        <p:txBody>
          <a:bodyPr wrap="square" lIns="0" tIns="0" rIns="0" bIns="0" rtlCol="0" anchor="ctr"/>
          <a:lstStyle/>
          <a:p>
            <a:pPr marL="0" indent="0" algn="ctr">
              <a:buNone/>
            </a:pPr>
            <a:r>
              <a:rPr lang="en-US" sz="1500" b="1" dirty="0">
                <a:solidFill>
                  <a:schemeClr val="accent1"/>
                </a:solidFill>
              </a:rPr>
              <a:t>Data  →  Engine  →  AI</a:t>
            </a:r>
            <a:endParaRPr lang="en-US" sz="15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The Planner Engine</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ಯೋಜನಾ ಎಂಜಿನ್</a:t>
            </a:r>
            <a:endParaRPr lang="en-US" sz="1600" dirty="0"/>
          </a:p>
        </p:txBody>
      </p:sp>
      <p:sp>
        <p:nvSpPr>
          <p:cNvPr id="5" name="Tile Interest match"/>
          <p:cNvSpPr/>
          <p:nvPr/>
        </p:nvSpPr>
        <p:spPr>
          <a:xfrm>
            <a:off x="457200" y="1417320"/>
            <a:ext cx="2560320" cy="1463040"/>
          </a:xfrm>
          <a:prstGeom prst="roundRect">
            <a:avLst>
              <a:gd name="adj" fmla="val 875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Heart"/>
          <p:cNvSpPr/>
          <p:nvPr/>
        </p:nvSpPr>
        <p:spPr>
          <a:xfrm>
            <a:off x="640080" y="1563624"/>
            <a:ext cx="384048" cy="384048"/>
          </a:xfrm>
          <a:prstGeom prst="ellipse">
            <a:avLst/>
          </a:prstGeom>
          <a:solidFill>
            <a:schemeClr val="accent2"/>
          </a:solidFill>
          <a:ln/>
        </p:spPr>
      </p:sp>
      <p:pic>
        <p:nvPicPr>
          <p:cNvPr id="7" name="Image 0" descr="Heart icon"/>
          <p:cNvPicPr>
            <a:picLocks noChangeAspect="1"/>
          </p:cNvPicPr>
          <p:nvPr/>
        </p:nvPicPr>
        <p:blipFill>
          <a:blip r:embed="rId3"/>
          <a:stretch>
            <a:fillRect/>
          </a:stretch>
        </p:blipFill>
        <p:spPr>
          <a:xfrm>
            <a:off x="736092" y="1659636"/>
            <a:ext cx="192024" cy="192024"/>
          </a:xfrm>
          <a:prstGeom prst="rect">
            <a:avLst/>
          </a:prstGeom>
        </p:spPr>
      </p:pic>
      <p:sp>
        <p:nvSpPr>
          <p:cNvPr id="8" name="Text 4"/>
          <p:cNvSpPr txBox="1"/>
          <p:nvPr/>
        </p:nvSpPr>
        <p:spPr>
          <a:xfrm>
            <a:off x="1143000" y="1563624"/>
            <a:ext cx="1783080" cy="384048"/>
          </a:xfrm>
          <a:prstGeom prst="rect">
            <a:avLst/>
          </a:prstGeom>
          <a:noFill/>
          <a:ln/>
        </p:spPr>
        <p:txBody>
          <a:bodyPr wrap="square" lIns="0" tIns="0" rIns="0" bIns="0" rtlCol="0" anchor="ctr"/>
          <a:lstStyle/>
          <a:p>
            <a:pPr marL="0" indent="0">
              <a:buNone/>
            </a:pPr>
            <a:r>
              <a:rPr lang="en-US" sz="1600" b="1" dirty="0">
                <a:solidFill>
                  <a:schemeClr val="bg1"/>
                </a:solidFill>
              </a:rPr>
              <a:t>Interest match</a:t>
            </a:r>
            <a:endParaRPr lang="en-US" sz="1600" dirty="0"/>
          </a:p>
        </p:txBody>
      </p:sp>
      <p:sp>
        <p:nvSpPr>
          <p:cNvPr id="9" name="Text 5"/>
          <p:cNvSpPr txBox="1"/>
          <p:nvPr/>
        </p:nvSpPr>
        <p:spPr>
          <a:xfrm>
            <a:off x="640080" y="2075688"/>
            <a:ext cx="2240280" cy="731520"/>
          </a:xfrm>
          <a:prstGeom prst="rect">
            <a:avLst/>
          </a:prstGeom>
          <a:noFill/>
          <a:ln/>
        </p:spPr>
        <p:txBody>
          <a:bodyPr wrap="square" lIns="0" tIns="0" rIns="0" bIns="0" rtlCol="0" anchor="t"/>
          <a:lstStyle/>
          <a:p>
            <a:pPr marL="0" indent="0">
              <a:buNone/>
            </a:pPr>
            <a:r>
              <a:rPr lang="en-US" sz="1400" dirty="0">
                <a:solidFill>
                  <a:schemeClr val="bg2"/>
                </a:solidFill>
              </a:rPr>
              <a:t>Heritage, wildlife, beaches, temples, food and more</a:t>
            </a:r>
            <a:endParaRPr lang="en-US" sz="1400" dirty="0"/>
          </a:p>
        </p:txBody>
      </p:sp>
      <p:sp>
        <p:nvSpPr>
          <p:cNvPr id="10" name="Tile Season fit"/>
          <p:cNvSpPr/>
          <p:nvPr/>
        </p:nvSpPr>
        <p:spPr>
          <a:xfrm>
            <a:off x="3154680" y="1417320"/>
            <a:ext cx="2560320" cy="1463040"/>
          </a:xfrm>
          <a:prstGeom prst="roundRect">
            <a:avLst>
              <a:gd name="adj" fmla="val 875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CloudSun"/>
          <p:cNvSpPr/>
          <p:nvPr/>
        </p:nvSpPr>
        <p:spPr>
          <a:xfrm>
            <a:off x="3337560" y="1563624"/>
            <a:ext cx="384048" cy="384048"/>
          </a:xfrm>
          <a:prstGeom prst="ellipse">
            <a:avLst/>
          </a:prstGeom>
          <a:solidFill>
            <a:schemeClr val="accent1"/>
          </a:solidFill>
          <a:ln/>
        </p:spPr>
      </p:sp>
      <p:pic>
        <p:nvPicPr>
          <p:cNvPr id="12" name="Image 1" descr="CloudSun icon"/>
          <p:cNvPicPr>
            <a:picLocks noChangeAspect="1"/>
          </p:cNvPicPr>
          <p:nvPr/>
        </p:nvPicPr>
        <p:blipFill>
          <a:blip r:embed="rId4"/>
          <a:stretch>
            <a:fillRect/>
          </a:stretch>
        </p:blipFill>
        <p:spPr>
          <a:xfrm>
            <a:off x="3433572" y="1659636"/>
            <a:ext cx="192024" cy="192024"/>
          </a:xfrm>
          <a:prstGeom prst="rect">
            <a:avLst/>
          </a:prstGeom>
        </p:spPr>
      </p:pic>
      <p:sp>
        <p:nvSpPr>
          <p:cNvPr id="13" name="Text 8"/>
          <p:cNvSpPr txBox="1"/>
          <p:nvPr/>
        </p:nvSpPr>
        <p:spPr>
          <a:xfrm>
            <a:off x="3840480" y="1563624"/>
            <a:ext cx="1783080" cy="384048"/>
          </a:xfrm>
          <a:prstGeom prst="rect">
            <a:avLst/>
          </a:prstGeom>
          <a:noFill/>
          <a:ln/>
        </p:spPr>
        <p:txBody>
          <a:bodyPr wrap="square" lIns="0" tIns="0" rIns="0" bIns="0" rtlCol="0" anchor="ctr"/>
          <a:lstStyle/>
          <a:p>
            <a:pPr marL="0" indent="0">
              <a:buNone/>
            </a:pPr>
            <a:r>
              <a:rPr lang="en-US" sz="1600" b="1" dirty="0">
                <a:solidFill>
                  <a:schemeClr val="bg1"/>
                </a:solidFill>
              </a:rPr>
              <a:t>Season fit</a:t>
            </a:r>
            <a:endParaRPr lang="en-US" sz="1600" dirty="0"/>
          </a:p>
        </p:txBody>
      </p:sp>
      <p:sp>
        <p:nvSpPr>
          <p:cNvPr id="14" name="Text 9"/>
          <p:cNvSpPr txBox="1"/>
          <p:nvPr/>
        </p:nvSpPr>
        <p:spPr>
          <a:xfrm>
            <a:off x="3337560" y="2075688"/>
            <a:ext cx="2240280" cy="731520"/>
          </a:xfrm>
          <a:prstGeom prst="rect">
            <a:avLst/>
          </a:prstGeom>
          <a:noFill/>
          <a:ln/>
        </p:spPr>
        <p:txBody>
          <a:bodyPr wrap="square" lIns="0" tIns="0" rIns="0" bIns="0" rtlCol="0" anchor="t"/>
          <a:lstStyle/>
          <a:p>
            <a:pPr marL="0" indent="0">
              <a:buNone/>
            </a:pPr>
            <a:r>
              <a:rPr lang="en-US" sz="1400" dirty="0">
                <a:solidFill>
                  <a:schemeClr val="bg2"/>
                </a:solidFill>
              </a:rPr>
              <a:t>Places ranked by best months for your travel month</a:t>
            </a:r>
            <a:endParaRPr lang="en-US" sz="1400" dirty="0"/>
          </a:p>
        </p:txBody>
      </p:sp>
      <p:sp>
        <p:nvSpPr>
          <p:cNvPr id="15" name="Tile Geo clustering"/>
          <p:cNvSpPr/>
          <p:nvPr/>
        </p:nvSpPr>
        <p:spPr>
          <a:xfrm>
            <a:off x="457200" y="3017520"/>
            <a:ext cx="2560320" cy="1463040"/>
          </a:xfrm>
          <a:prstGeom prst="roundRect">
            <a:avLst>
              <a:gd name="adj" fmla="val 875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MapMarkedAlt"/>
          <p:cNvSpPr/>
          <p:nvPr/>
        </p:nvSpPr>
        <p:spPr>
          <a:xfrm>
            <a:off x="640080" y="3163824"/>
            <a:ext cx="384048" cy="384048"/>
          </a:xfrm>
          <a:prstGeom prst="ellipse">
            <a:avLst/>
          </a:prstGeom>
          <a:solidFill>
            <a:schemeClr val="accent3"/>
          </a:solidFill>
          <a:ln/>
        </p:spPr>
      </p:sp>
      <p:pic>
        <p:nvPicPr>
          <p:cNvPr id="17" name="Image 2" descr="MapMarkedAlt icon"/>
          <p:cNvPicPr>
            <a:picLocks noChangeAspect="1"/>
          </p:cNvPicPr>
          <p:nvPr/>
        </p:nvPicPr>
        <p:blipFill>
          <a:blip r:embed="rId5"/>
          <a:stretch>
            <a:fillRect/>
          </a:stretch>
        </p:blipFill>
        <p:spPr>
          <a:xfrm>
            <a:off x="736092" y="3259836"/>
            <a:ext cx="192024" cy="192024"/>
          </a:xfrm>
          <a:prstGeom prst="rect">
            <a:avLst/>
          </a:prstGeom>
        </p:spPr>
      </p:pic>
      <p:sp>
        <p:nvSpPr>
          <p:cNvPr id="18" name="Text 12"/>
          <p:cNvSpPr txBox="1"/>
          <p:nvPr/>
        </p:nvSpPr>
        <p:spPr>
          <a:xfrm>
            <a:off x="1143000" y="3163824"/>
            <a:ext cx="1783080" cy="384048"/>
          </a:xfrm>
          <a:prstGeom prst="rect">
            <a:avLst/>
          </a:prstGeom>
          <a:noFill/>
          <a:ln/>
        </p:spPr>
        <p:txBody>
          <a:bodyPr wrap="square" lIns="0" tIns="0" rIns="0" bIns="0" rtlCol="0" anchor="ctr"/>
          <a:lstStyle/>
          <a:p>
            <a:pPr marL="0" indent="0">
              <a:buNone/>
            </a:pPr>
            <a:r>
              <a:rPr lang="en-US" sz="1600" b="1" dirty="0">
                <a:solidFill>
                  <a:schemeClr val="bg1"/>
                </a:solidFill>
              </a:rPr>
              <a:t>Geo clustering</a:t>
            </a:r>
            <a:endParaRPr lang="en-US" sz="1600" dirty="0"/>
          </a:p>
        </p:txBody>
      </p:sp>
      <p:sp>
        <p:nvSpPr>
          <p:cNvPr id="19" name="Text 13"/>
          <p:cNvSpPr txBox="1"/>
          <p:nvPr/>
        </p:nvSpPr>
        <p:spPr>
          <a:xfrm>
            <a:off x="640080" y="3675888"/>
            <a:ext cx="2240280" cy="731520"/>
          </a:xfrm>
          <a:prstGeom prst="rect">
            <a:avLst/>
          </a:prstGeom>
          <a:noFill/>
          <a:ln/>
        </p:spPr>
        <p:txBody>
          <a:bodyPr wrap="square" lIns="0" tIns="0" rIns="0" bIns="0" rtlCol="0" anchor="t"/>
          <a:lstStyle/>
          <a:p>
            <a:pPr marL="0" indent="0">
              <a:buNone/>
            </a:pPr>
            <a:r>
              <a:rPr lang="en-US" sz="1400" dirty="0">
                <a:solidFill>
                  <a:schemeClr val="bg2"/>
                </a:solidFill>
              </a:rPr>
              <a:t>Each day stays in one region, in nearest order</a:t>
            </a:r>
            <a:endParaRPr lang="en-US" sz="1400" dirty="0"/>
          </a:p>
        </p:txBody>
      </p:sp>
      <p:sp>
        <p:nvSpPr>
          <p:cNvPr id="20" name="Tile Budget fit"/>
          <p:cNvSpPr/>
          <p:nvPr/>
        </p:nvSpPr>
        <p:spPr>
          <a:xfrm>
            <a:off x="3154680" y="3017520"/>
            <a:ext cx="2560320" cy="1463040"/>
          </a:xfrm>
          <a:prstGeom prst="roundRect">
            <a:avLst>
              <a:gd name="adj" fmla="val 875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1" name="Icon circle FaRupeeSign"/>
          <p:cNvSpPr/>
          <p:nvPr/>
        </p:nvSpPr>
        <p:spPr>
          <a:xfrm>
            <a:off x="3337560" y="3163824"/>
            <a:ext cx="384048" cy="384048"/>
          </a:xfrm>
          <a:prstGeom prst="ellipse">
            <a:avLst/>
          </a:prstGeom>
          <a:solidFill>
            <a:schemeClr val="accent4"/>
          </a:solidFill>
          <a:ln/>
        </p:spPr>
      </p:sp>
      <p:pic>
        <p:nvPicPr>
          <p:cNvPr id="22" name="Image 3" descr="RupeeSign icon"/>
          <p:cNvPicPr>
            <a:picLocks noChangeAspect="1"/>
          </p:cNvPicPr>
          <p:nvPr/>
        </p:nvPicPr>
        <p:blipFill>
          <a:blip r:embed="rId6"/>
          <a:stretch>
            <a:fillRect/>
          </a:stretch>
        </p:blipFill>
        <p:spPr>
          <a:xfrm>
            <a:off x="3433572" y="3259836"/>
            <a:ext cx="192024" cy="192024"/>
          </a:xfrm>
          <a:prstGeom prst="rect">
            <a:avLst/>
          </a:prstGeom>
        </p:spPr>
      </p:pic>
      <p:sp>
        <p:nvSpPr>
          <p:cNvPr id="23" name="Text 16"/>
          <p:cNvSpPr txBox="1"/>
          <p:nvPr/>
        </p:nvSpPr>
        <p:spPr>
          <a:xfrm>
            <a:off x="3840480" y="3163824"/>
            <a:ext cx="1783080" cy="384048"/>
          </a:xfrm>
          <a:prstGeom prst="rect">
            <a:avLst/>
          </a:prstGeom>
          <a:noFill/>
          <a:ln/>
        </p:spPr>
        <p:txBody>
          <a:bodyPr wrap="square" lIns="0" tIns="0" rIns="0" bIns="0" rtlCol="0" anchor="ctr"/>
          <a:lstStyle/>
          <a:p>
            <a:pPr marL="0" indent="0">
              <a:buNone/>
            </a:pPr>
            <a:r>
              <a:rPr lang="en-US" sz="1600" b="1" dirty="0">
                <a:solidFill>
                  <a:schemeClr val="bg1"/>
                </a:solidFill>
              </a:rPr>
              <a:t>Budget fit</a:t>
            </a:r>
            <a:endParaRPr lang="en-US" sz="1600" dirty="0"/>
          </a:p>
        </p:txBody>
      </p:sp>
      <p:sp>
        <p:nvSpPr>
          <p:cNvPr id="24" name="Text 17"/>
          <p:cNvSpPr txBox="1"/>
          <p:nvPr/>
        </p:nvSpPr>
        <p:spPr>
          <a:xfrm>
            <a:off x="3337560" y="3675888"/>
            <a:ext cx="2240280" cy="731520"/>
          </a:xfrm>
          <a:prstGeom prst="rect">
            <a:avLst/>
          </a:prstGeom>
          <a:noFill/>
          <a:ln/>
        </p:spPr>
        <p:txBody>
          <a:bodyPr wrap="square" lIns="0" tIns="0" rIns="0" bIns="0" rtlCol="0" anchor="t"/>
          <a:lstStyle/>
          <a:p>
            <a:pPr marL="0" indent="0">
              <a:buNone/>
            </a:pPr>
            <a:r>
              <a:rPr lang="en-US" sz="1400" dirty="0">
                <a:solidFill>
                  <a:schemeClr val="bg2"/>
                </a:solidFill>
              </a:rPr>
              <a:t>Stay tier adjusts; over or under budget warning</a:t>
            </a:r>
            <a:endParaRPr lang="en-US" sz="1400" dirty="0"/>
          </a:p>
        </p:txBody>
      </p:sp>
      <p:sp>
        <p:nvSpPr>
          <p:cNvPr id="25" name="Card pace"/>
          <p:cNvSpPr/>
          <p:nvPr/>
        </p:nvSpPr>
        <p:spPr>
          <a:xfrm>
            <a:off x="5943600" y="1417320"/>
            <a:ext cx="2743200" cy="3108960"/>
          </a:xfrm>
          <a:prstGeom prst="roundRect">
            <a:avLst>
              <a:gd name="adj" fmla="val 4667"/>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6" name="Text 19"/>
          <p:cNvSpPr txBox="1"/>
          <p:nvPr/>
        </p:nvSpPr>
        <p:spPr>
          <a:xfrm>
            <a:off x="6126480" y="1554480"/>
            <a:ext cx="2377440" cy="320040"/>
          </a:xfrm>
          <a:prstGeom prst="rect">
            <a:avLst/>
          </a:prstGeom>
          <a:noFill/>
          <a:ln/>
        </p:spPr>
        <p:txBody>
          <a:bodyPr wrap="square" lIns="0" tIns="0" rIns="0" bIns="0" rtlCol="0" anchor="ctr"/>
          <a:lstStyle/>
          <a:p>
            <a:pPr marL="0" indent="0">
              <a:buNone/>
            </a:pPr>
            <a:r>
              <a:rPr lang="en-US" sz="1600" b="1" dirty="0">
                <a:solidFill>
                  <a:schemeClr val="accent1"/>
                </a:solidFill>
              </a:rPr>
              <a:t>Stops per day</a:t>
            </a:r>
            <a:endParaRPr lang="en-US" sz="1600" dirty="0"/>
          </a:p>
        </p:txBody>
      </p:sp>
      <p:sp>
        <p:nvSpPr>
          <p:cNvPr id="27" name="Text 20"/>
          <p:cNvSpPr txBox="1"/>
          <p:nvPr/>
        </p:nvSpPr>
        <p:spPr>
          <a:xfrm>
            <a:off x="6126480" y="2011680"/>
            <a:ext cx="1188720" cy="685800"/>
          </a:xfrm>
          <a:prstGeom prst="rect">
            <a:avLst/>
          </a:prstGeom>
          <a:noFill/>
          <a:ln/>
        </p:spPr>
        <p:txBody>
          <a:bodyPr wrap="square" lIns="0" tIns="0" rIns="0" bIns="0" rtlCol="0" anchor="ctr"/>
          <a:lstStyle/>
          <a:p>
            <a:pPr marL="0" indent="0">
              <a:buNone/>
            </a:pPr>
            <a:r>
              <a:rPr lang="en-US" sz="3600" b="1" dirty="0">
                <a:solidFill>
                  <a:schemeClr val="accent3"/>
                </a:solidFill>
                <a:latin typeface="+mj-lt" pitchFamily="34" charset="0"/>
                <a:ea typeface="+mj-lt" pitchFamily="34" charset="-122"/>
                <a:cs typeface="+mj-lt" pitchFamily="34" charset="-120"/>
              </a:rPr>
              <a:t>2–3</a:t>
            </a:r>
            <a:endParaRPr lang="en-US" sz="3600" dirty="0"/>
          </a:p>
        </p:txBody>
      </p:sp>
      <p:sp>
        <p:nvSpPr>
          <p:cNvPr id="28" name="Text 21"/>
          <p:cNvSpPr txBox="1"/>
          <p:nvPr/>
        </p:nvSpPr>
        <p:spPr>
          <a:xfrm>
            <a:off x="7360920" y="2011680"/>
            <a:ext cx="1234440" cy="685800"/>
          </a:xfrm>
          <a:prstGeom prst="rect">
            <a:avLst/>
          </a:prstGeom>
          <a:noFill/>
          <a:ln/>
        </p:spPr>
        <p:txBody>
          <a:bodyPr wrap="square" lIns="0" tIns="0" rIns="0" bIns="0" rtlCol="0" anchor="ctr"/>
          <a:lstStyle/>
          <a:p>
            <a:pPr marL="0" indent="0">
              <a:buNone/>
            </a:pPr>
            <a:r>
              <a:rPr lang="en-US" sz="1600" b="1" dirty="0">
                <a:solidFill>
                  <a:schemeClr val="bg1"/>
                </a:solidFill>
              </a:rPr>
              <a:t>Relaxed</a:t>
            </a:r>
            <a:endParaRPr lang="en-US" sz="1600" dirty="0"/>
          </a:p>
        </p:txBody>
      </p:sp>
      <p:sp>
        <p:nvSpPr>
          <p:cNvPr id="29" name="Text 22"/>
          <p:cNvSpPr txBox="1"/>
          <p:nvPr/>
        </p:nvSpPr>
        <p:spPr>
          <a:xfrm>
            <a:off x="6126480" y="2816352"/>
            <a:ext cx="1188720" cy="685800"/>
          </a:xfrm>
          <a:prstGeom prst="rect">
            <a:avLst/>
          </a:prstGeom>
          <a:noFill/>
          <a:ln/>
        </p:spPr>
        <p:txBody>
          <a:bodyPr wrap="square" lIns="0" tIns="0" rIns="0" bIns="0" rtlCol="0" anchor="ctr"/>
          <a:lstStyle/>
          <a:p>
            <a:pPr marL="0" indent="0">
              <a:buNone/>
            </a:pPr>
            <a:r>
              <a:rPr lang="en-US" sz="3600" b="1" dirty="0">
                <a:solidFill>
                  <a:schemeClr val="accent1"/>
                </a:solidFill>
                <a:latin typeface="+mj-lt" pitchFamily="34" charset="0"/>
                <a:ea typeface="+mj-lt" pitchFamily="34" charset="-122"/>
                <a:cs typeface="+mj-lt" pitchFamily="34" charset="-120"/>
              </a:rPr>
              <a:t>3–4</a:t>
            </a:r>
            <a:endParaRPr lang="en-US" sz="3600" dirty="0"/>
          </a:p>
        </p:txBody>
      </p:sp>
      <p:sp>
        <p:nvSpPr>
          <p:cNvPr id="30" name="Text 23"/>
          <p:cNvSpPr txBox="1"/>
          <p:nvPr/>
        </p:nvSpPr>
        <p:spPr>
          <a:xfrm>
            <a:off x="7360920" y="2816352"/>
            <a:ext cx="1234440" cy="685800"/>
          </a:xfrm>
          <a:prstGeom prst="rect">
            <a:avLst/>
          </a:prstGeom>
          <a:noFill/>
          <a:ln/>
        </p:spPr>
        <p:txBody>
          <a:bodyPr wrap="square" lIns="0" tIns="0" rIns="0" bIns="0" rtlCol="0" anchor="ctr"/>
          <a:lstStyle/>
          <a:p>
            <a:pPr marL="0" indent="0">
              <a:buNone/>
            </a:pPr>
            <a:r>
              <a:rPr lang="en-US" sz="1600" b="1" dirty="0">
                <a:solidFill>
                  <a:schemeClr val="bg1"/>
                </a:solidFill>
              </a:rPr>
              <a:t>Balanced</a:t>
            </a:r>
            <a:endParaRPr lang="en-US" sz="1600" dirty="0"/>
          </a:p>
        </p:txBody>
      </p:sp>
      <p:sp>
        <p:nvSpPr>
          <p:cNvPr id="31" name="Text 24"/>
          <p:cNvSpPr txBox="1"/>
          <p:nvPr/>
        </p:nvSpPr>
        <p:spPr>
          <a:xfrm>
            <a:off x="6126480" y="3621024"/>
            <a:ext cx="1188720" cy="685800"/>
          </a:xfrm>
          <a:prstGeom prst="rect">
            <a:avLst/>
          </a:prstGeom>
          <a:noFill/>
          <a:ln/>
        </p:spPr>
        <p:txBody>
          <a:bodyPr wrap="square" lIns="0" tIns="0" rIns="0" bIns="0" rtlCol="0" anchor="ctr"/>
          <a:lstStyle/>
          <a:p>
            <a:pPr marL="0" indent="0">
              <a:buNone/>
            </a:pPr>
            <a:r>
              <a:rPr lang="en-US" sz="3600" b="1" dirty="0">
                <a:solidFill>
                  <a:schemeClr val="accent2"/>
                </a:solidFill>
                <a:latin typeface="+mj-lt" pitchFamily="34" charset="0"/>
                <a:ea typeface="+mj-lt" pitchFamily="34" charset="-122"/>
                <a:cs typeface="+mj-lt" pitchFamily="34" charset="-120"/>
              </a:rPr>
              <a:t>4–5</a:t>
            </a:r>
            <a:endParaRPr lang="en-US" sz="3600" dirty="0"/>
          </a:p>
        </p:txBody>
      </p:sp>
      <p:sp>
        <p:nvSpPr>
          <p:cNvPr id="32" name="Text 25"/>
          <p:cNvSpPr txBox="1"/>
          <p:nvPr/>
        </p:nvSpPr>
        <p:spPr>
          <a:xfrm>
            <a:off x="7360920" y="3621024"/>
            <a:ext cx="1234440" cy="685800"/>
          </a:xfrm>
          <a:prstGeom prst="rect">
            <a:avLst/>
          </a:prstGeom>
          <a:noFill/>
          <a:ln/>
        </p:spPr>
        <p:txBody>
          <a:bodyPr wrap="square" lIns="0" tIns="0" rIns="0" bIns="0" rtlCol="0" anchor="ctr"/>
          <a:lstStyle/>
          <a:p>
            <a:pPr marL="0" indent="0">
              <a:buNone/>
            </a:pPr>
            <a:r>
              <a:rPr lang="en-US" sz="1600" b="1" dirty="0">
                <a:solidFill>
                  <a:schemeClr val="bg1"/>
                </a:solidFill>
              </a:rPr>
              <a:t>Packed</a:t>
            </a:r>
            <a:endParaRPr lang="en-US" sz="16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Key Features</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ಪ್ರಮುಖ ವೈಶಿಷ್ಟ್ಯಗಳು</a:t>
            </a:r>
            <a:endParaRPr lang="en-US" sz="1600" dirty="0"/>
          </a:p>
        </p:txBody>
      </p:sp>
      <p:sp>
        <p:nvSpPr>
          <p:cNvPr id="5" name="Feature AI itineraries"/>
          <p:cNvSpPr/>
          <p:nvPr/>
        </p:nvSpPr>
        <p:spPr>
          <a:xfrm>
            <a:off x="457200" y="141732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Brain"/>
          <p:cNvSpPr/>
          <p:nvPr/>
        </p:nvSpPr>
        <p:spPr>
          <a:xfrm>
            <a:off x="640080" y="1581912"/>
            <a:ext cx="402336" cy="402336"/>
          </a:xfrm>
          <a:prstGeom prst="ellipse">
            <a:avLst/>
          </a:prstGeom>
          <a:solidFill>
            <a:schemeClr val="accent1"/>
          </a:solidFill>
          <a:ln/>
        </p:spPr>
      </p:sp>
      <p:pic>
        <p:nvPicPr>
          <p:cNvPr id="7" name="Image 0" descr="Brain icon"/>
          <p:cNvPicPr>
            <a:picLocks noChangeAspect="1"/>
          </p:cNvPicPr>
          <p:nvPr/>
        </p:nvPicPr>
        <p:blipFill>
          <a:blip r:embed="rId3"/>
          <a:stretch>
            <a:fillRect/>
          </a:stretch>
        </p:blipFill>
        <p:spPr>
          <a:xfrm>
            <a:off x="740664" y="1682496"/>
            <a:ext cx="201168" cy="201168"/>
          </a:xfrm>
          <a:prstGeom prst="rect">
            <a:avLst/>
          </a:prstGeom>
        </p:spPr>
      </p:pic>
      <p:sp>
        <p:nvSpPr>
          <p:cNvPr id="8" name="Text 4"/>
          <p:cNvSpPr txBox="1"/>
          <p:nvPr/>
        </p:nvSpPr>
        <p:spPr>
          <a:xfrm>
            <a:off x="1170432" y="158191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AI itineraries</a:t>
            </a:r>
            <a:endParaRPr lang="en-US" sz="1500" dirty="0"/>
          </a:p>
        </p:txBody>
      </p:sp>
      <p:sp>
        <p:nvSpPr>
          <p:cNvPr id="9" name="Text 5"/>
          <p:cNvSpPr txBox="1"/>
          <p:nvPr/>
        </p:nvSpPr>
        <p:spPr>
          <a:xfrm>
            <a:off x="640080" y="2112264"/>
            <a:ext cx="2240280" cy="749808"/>
          </a:xfrm>
          <a:prstGeom prst="rect">
            <a:avLst/>
          </a:prstGeom>
          <a:noFill/>
          <a:ln/>
        </p:spPr>
        <p:txBody>
          <a:bodyPr wrap="square" lIns="0" tIns="0" rIns="0" bIns="0" rtlCol="0" anchor="t"/>
          <a:lstStyle/>
          <a:p>
            <a:pPr marL="0" indent="0">
              <a:buNone/>
            </a:pPr>
            <a:r>
              <a:rPr lang="en-US" sz="1400" dirty="0">
                <a:solidFill>
                  <a:schemeClr val="bg2"/>
                </a:solidFill>
              </a:rPr>
              <a:t>Day-by-day plans with a 'why this suits you' line for every stop</a:t>
            </a:r>
            <a:endParaRPr lang="en-US" sz="1400" dirty="0"/>
          </a:p>
        </p:txBody>
      </p:sp>
      <p:sp>
        <p:nvSpPr>
          <p:cNvPr id="10" name="Feature Live route map"/>
          <p:cNvSpPr/>
          <p:nvPr/>
        </p:nvSpPr>
        <p:spPr>
          <a:xfrm>
            <a:off x="3291840" y="141732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Map"/>
          <p:cNvSpPr/>
          <p:nvPr/>
        </p:nvSpPr>
        <p:spPr>
          <a:xfrm>
            <a:off x="3474720" y="1581912"/>
            <a:ext cx="402336" cy="402336"/>
          </a:xfrm>
          <a:prstGeom prst="ellipse">
            <a:avLst/>
          </a:prstGeom>
          <a:solidFill>
            <a:schemeClr val="accent3"/>
          </a:solidFill>
          <a:ln/>
        </p:spPr>
      </p:sp>
      <p:pic>
        <p:nvPicPr>
          <p:cNvPr id="12" name="Image 1" descr="Map icon"/>
          <p:cNvPicPr>
            <a:picLocks noChangeAspect="1"/>
          </p:cNvPicPr>
          <p:nvPr/>
        </p:nvPicPr>
        <p:blipFill>
          <a:blip r:embed="rId4"/>
          <a:stretch>
            <a:fillRect/>
          </a:stretch>
        </p:blipFill>
        <p:spPr>
          <a:xfrm>
            <a:off x="3575304" y="1682496"/>
            <a:ext cx="201168" cy="201168"/>
          </a:xfrm>
          <a:prstGeom prst="rect">
            <a:avLst/>
          </a:prstGeom>
        </p:spPr>
      </p:pic>
      <p:sp>
        <p:nvSpPr>
          <p:cNvPr id="13" name="Text 8"/>
          <p:cNvSpPr txBox="1"/>
          <p:nvPr/>
        </p:nvSpPr>
        <p:spPr>
          <a:xfrm>
            <a:off x="4005072" y="158191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Live route map</a:t>
            </a:r>
            <a:endParaRPr lang="en-US" sz="1500" dirty="0"/>
          </a:p>
        </p:txBody>
      </p:sp>
      <p:sp>
        <p:nvSpPr>
          <p:cNvPr id="14" name="Text 9"/>
          <p:cNvSpPr txBox="1"/>
          <p:nvPr/>
        </p:nvSpPr>
        <p:spPr>
          <a:xfrm>
            <a:off x="3474720" y="2112264"/>
            <a:ext cx="2240280" cy="749808"/>
          </a:xfrm>
          <a:prstGeom prst="rect">
            <a:avLst/>
          </a:prstGeom>
          <a:noFill/>
          <a:ln/>
        </p:spPr>
        <p:txBody>
          <a:bodyPr wrap="square" lIns="0" tIns="0" rIns="0" bIns="0" rtlCol="0" anchor="t"/>
          <a:lstStyle/>
          <a:p>
            <a:pPr marL="0" indent="0">
              <a:buNone/>
            </a:pPr>
            <a:r>
              <a:rPr lang="en-US" sz="1400" dirty="0">
                <a:solidFill>
                  <a:schemeClr val="bg2"/>
                </a:solidFill>
              </a:rPr>
              <a:t>Numbered stops and colour-coded day routes on OpenStreetMap</a:t>
            </a:r>
            <a:endParaRPr lang="en-US" sz="1400" dirty="0"/>
          </a:p>
        </p:txBody>
      </p:sp>
      <p:sp>
        <p:nvSpPr>
          <p:cNvPr id="15" name="Feature Budget breakdown"/>
          <p:cNvSpPr/>
          <p:nvPr/>
        </p:nvSpPr>
        <p:spPr>
          <a:xfrm>
            <a:off x="6126480" y="141732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ChartPie"/>
          <p:cNvSpPr/>
          <p:nvPr/>
        </p:nvSpPr>
        <p:spPr>
          <a:xfrm>
            <a:off x="6309360" y="1581912"/>
            <a:ext cx="402336" cy="402336"/>
          </a:xfrm>
          <a:prstGeom prst="ellipse">
            <a:avLst/>
          </a:prstGeom>
          <a:solidFill>
            <a:schemeClr val="accent4"/>
          </a:solidFill>
          <a:ln/>
        </p:spPr>
      </p:sp>
      <p:pic>
        <p:nvPicPr>
          <p:cNvPr id="17" name="Image 2" descr="ChartPie icon"/>
          <p:cNvPicPr>
            <a:picLocks noChangeAspect="1"/>
          </p:cNvPicPr>
          <p:nvPr/>
        </p:nvPicPr>
        <p:blipFill>
          <a:blip r:embed="rId5"/>
          <a:stretch>
            <a:fillRect/>
          </a:stretch>
        </p:blipFill>
        <p:spPr>
          <a:xfrm>
            <a:off x="6409944" y="1682496"/>
            <a:ext cx="201168" cy="201168"/>
          </a:xfrm>
          <a:prstGeom prst="rect">
            <a:avLst/>
          </a:prstGeom>
        </p:spPr>
      </p:pic>
      <p:sp>
        <p:nvSpPr>
          <p:cNvPr id="18" name="Text 12"/>
          <p:cNvSpPr txBox="1"/>
          <p:nvPr/>
        </p:nvSpPr>
        <p:spPr>
          <a:xfrm>
            <a:off x="6839712" y="158191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Budget breakdown</a:t>
            </a:r>
            <a:endParaRPr lang="en-US" sz="1500" dirty="0"/>
          </a:p>
        </p:txBody>
      </p:sp>
      <p:sp>
        <p:nvSpPr>
          <p:cNvPr id="19" name="Text 13"/>
          <p:cNvSpPr txBox="1"/>
          <p:nvPr/>
        </p:nvSpPr>
        <p:spPr>
          <a:xfrm>
            <a:off x="6309360" y="2112264"/>
            <a:ext cx="2240280" cy="749808"/>
          </a:xfrm>
          <a:prstGeom prst="rect">
            <a:avLst/>
          </a:prstGeom>
          <a:noFill/>
          <a:ln/>
        </p:spPr>
        <p:txBody>
          <a:bodyPr wrap="square" lIns="0" tIns="0" rIns="0" bIns="0" rtlCol="0" anchor="t"/>
          <a:lstStyle/>
          <a:p>
            <a:pPr marL="0" indent="0">
              <a:buNone/>
            </a:pPr>
            <a:r>
              <a:rPr lang="en-US" sz="1400" dirty="0">
                <a:solidFill>
                  <a:schemeClr val="bg2"/>
                </a:solidFill>
              </a:rPr>
              <a:t>Donut chart of stay, food, transport and entry fees</a:t>
            </a:r>
            <a:endParaRPr lang="en-US" sz="1400" dirty="0"/>
          </a:p>
        </p:txBody>
      </p:sp>
      <p:sp>
        <p:nvSpPr>
          <p:cNvPr id="20" name="Feature Swap and regenerate"/>
          <p:cNvSpPr/>
          <p:nvPr/>
        </p:nvSpPr>
        <p:spPr>
          <a:xfrm>
            <a:off x="457200" y="306324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1" name="Icon circle FaSyncAlt"/>
          <p:cNvSpPr/>
          <p:nvPr/>
        </p:nvSpPr>
        <p:spPr>
          <a:xfrm>
            <a:off x="640080" y="3227832"/>
            <a:ext cx="402336" cy="402336"/>
          </a:xfrm>
          <a:prstGeom prst="ellipse">
            <a:avLst/>
          </a:prstGeom>
          <a:solidFill>
            <a:schemeClr val="accent2"/>
          </a:solidFill>
          <a:ln/>
        </p:spPr>
      </p:sp>
      <p:pic>
        <p:nvPicPr>
          <p:cNvPr id="22" name="Image 3" descr="SyncAlt icon"/>
          <p:cNvPicPr>
            <a:picLocks noChangeAspect="1"/>
          </p:cNvPicPr>
          <p:nvPr/>
        </p:nvPicPr>
        <p:blipFill>
          <a:blip r:embed="rId6"/>
          <a:stretch>
            <a:fillRect/>
          </a:stretch>
        </p:blipFill>
        <p:spPr>
          <a:xfrm>
            <a:off x="740664" y="3328416"/>
            <a:ext cx="201168" cy="201168"/>
          </a:xfrm>
          <a:prstGeom prst="rect">
            <a:avLst/>
          </a:prstGeom>
        </p:spPr>
      </p:pic>
      <p:sp>
        <p:nvSpPr>
          <p:cNvPr id="23" name="Text 16"/>
          <p:cNvSpPr txBox="1"/>
          <p:nvPr/>
        </p:nvSpPr>
        <p:spPr>
          <a:xfrm>
            <a:off x="1170432" y="322783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Swap and regenerate</a:t>
            </a:r>
            <a:endParaRPr lang="en-US" sz="1500" dirty="0"/>
          </a:p>
        </p:txBody>
      </p:sp>
      <p:sp>
        <p:nvSpPr>
          <p:cNvPr id="24" name="Text 17"/>
          <p:cNvSpPr txBox="1"/>
          <p:nvPr/>
        </p:nvSpPr>
        <p:spPr>
          <a:xfrm>
            <a:off x="640080" y="3758184"/>
            <a:ext cx="2240280" cy="749808"/>
          </a:xfrm>
          <a:prstGeom prst="rect">
            <a:avLst/>
          </a:prstGeom>
          <a:noFill/>
          <a:ln/>
        </p:spPr>
        <p:txBody>
          <a:bodyPr wrap="square" lIns="0" tIns="0" rIns="0" bIns="0" rtlCol="0" anchor="t"/>
          <a:lstStyle/>
          <a:p>
            <a:pPr marL="0" indent="0">
              <a:buNone/>
            </a:pPr>
            <a:r>
              <a:rPr lang="en-US" sz="1400" dirty="0">
                <a:solidFill>
                  <a:schemeClr val="bg2"/>
                </a:solidFill>
              </a:rPr>
              <a:t>Replace any stop with a similar one, or re-plan in a click</a:t>
            </a:r>
            <a:endParaRPr lang="en-US" sz="1400" dirty="0"/>
          </a:p>
        </p:txBody>
      </p:sp>
      <p:sp>
        <p:nvSpPr>
          <p:cNvPr id="25" name="Feature Destination explorer"/>
          <p:cNvSpPr/>
          <p:nvPr/>
        </p:nvSpPr>
        <p:spPr>
          <a:xfrm>
            <a:off x="3291840" y="306324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6" name="Icon circle FaSearchLocation"/>
          <p:cNvSpPr/>
          <p:nvPr/>
        </p:nvSpPr>
        <p:spPr>
          <a:xfrm>
            <a:off x="3474720" y="3227832"/>
            <a:ext cx="402336" cy="402336"/>
          </a:xfrm>
          <a:prstGeom prst="ellipse">
            <a:avLst/>
          </a:prstGeom>
          <a:solidFill>
            <a:schemeClr val="accent1"/>
          </a:solidFill>
          <a:ln/>
        </p:spPr>
      </p:sp>
      <p:pic>
        <p:nvPicPr>
          <p:cNvPr id="27" name="Image 4" descr="SearchLocation icon"/>
          <p:cNvPicPr>
            <a:picLocks noChangeAspect="1"/>
          </p:cNvPicPr>
          <p:nvPr/>
        </p:nvPicPr>
        <p:blipFill>
          <a:blip r:embed="rId7"/>
          <a:stretch>
            <a:fillRect/>
          </a:stretch>
        </p:blipFill>
        <p:spPr>
          <a:xfrm>
            <a:off x="3575304" y="3328416"/>
            <a:ext cx="201168" cy="201168"/>
          </a:xfrm>
          <a:prstGeom prst="rect">
            <a:avLst/>
          </a:prstGeom>
        </p:spPr>
      </p:pic>
      <p:sp>
        <p:nvSpPr>
          <p:cNvPr id="28" name="Text 20"/>
          <p:cNvSpPr txBox="1"/>
          <p:nvPr/>
        </p:nvSpPr>
        <p:spPr>
          <a:xfrm>
            <a:off x="4005072" y="322783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Destination explorer</a:t>
            </a:r>
            <a:endParaRPr lang="en-US" sz="1500" dirty="0"/>
          </a:p>
        </p:txBody>
      </p:sp>
      <p:sp>
        <p:nvSpPr>
          <p:cNvPr id="29" name="Text 21"/>
          <p:cNvSpPr txBox="1"/>
          <p:nvPr/>
        </p:nvSpPr>
        <p:spPr>
          <a:xfrm>
            <a:off x="3474720" y="3758184"/>
            <a:ext cx="2240280" cy="749808"/>
          </a:xfrm>
          <a:prstGeom prst="rect">
            <a:avLst/>
          </a:prstGeom>
          <a:noFill/>
          <a:ln/>
        </p:spPr>
        <p:txBody>
          <a:bodyPr wrap="square" lIns="0" tIns="0" rIns="0" bIns="0" rtlCol="0" anchor="t"/>
          <a:lstStyle/>
          <a:p>
            <a:pPr marL="0" indent="0">
              <a:buNone/>
            </a:pPr>
            <a:r>
              <a:rPr lang="en-US" sz="1400" dirty="0">
                <a:solidFill>
                  <a:schemeClr val="bg2"/>
                </a:solidFill>
              </a:rPr>
              <a:t>40+ places with filters, search and best-season info</a:t>
            </a:r>
            <a:endParaRPr lang="en-US" sz="1400" dirty="0"/>
          </a:p>
        </p:txBody>
      </p:sp>
      <p:sp>
        <p:nvSpPr>
          <p:cNvPr id="30" name="Feature Print and download"/>
          <p:cNvSpPr/>
          <p:nvPr/>
        </p:nvSpPr>
        <p:spPr>
          <a:xfrm>
            <a:off x="6126480" y="3063240"/>
            <a:ext cx="2560320" cy="1508760"/>
          </a:xfrm>
          <a:prstGeom prst="roundRect">
            <a:avLst>
              <a:gd name="adj" fmla="val 8485"/>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31" name="Icon circle FaDownload"/>
          <p:cNvSpPr/>
          <p:nvPr/>
        </p:nvSpPr>
        <p:spPr>
          <a:xfrm>
            <a:off x="6309360" y="3227832"/>
            <a:ext cx="402336" cy="402336"/>
          </a:xfrm>
          <a:prstGeom prst="ellipse">
            <a:avLst/>
          </a:prstGeom>
          <a:solidFill>
            <a:schemeClr val="accent3"/>
          </a:solidFill>
          <a:ln/>
        </p:spPr>
      </p:sp>
      <p:pic>
        <p:nvPicPr>
          <p:cNvPr id="32" name="Image 5" descr="Download icon"/>
          <p:cNvPicPr>
            <a:picLocks noChangeAspect="1"/>
          </p:cNvPicPr>
          <p:nvPr/>
        </p:nvPicPr>
        <p:blipFill>
          <a:blip r:embed="rId8"/>
          <a:stretch>
            <a:fillRect/>
          </a:stretch>
        </p:blipFill>
        <p:spPr>
          <a:xfrm>
            <a:off x="6409944" y="3328416"/>
            <a:ext cx="201168" cy="201168"/>
          </a:xfrm>
          <a:prstGeom prst="rect">
            <a:avLst/>
          </a:prstGeom>
        </p:spPr>
      </p:pic>
      <p:sp>
        <p:nvSpPr>
          <p:cNvPr id="33" name="Text 24"/>
          <p:cNvSpPr txBox="1"/>
          <p:nvPr/>
        </p:nvSpPr>
        <p:spPr>
          <a:xfrm>
            <a:off x="6839712" y="3227832"/>
            <a:ext cx="1783080" cy="402336"/>
          </a:xfrm>
          <a:prstGeom prst="rect">
            <a:avLst/>
          </a:prstGeom>
          <a:noFill/>
          <a:ln/>
        </p:spPr>
        <p:txBody>
          <a:bodyPr wrap="square" lIns="0" tIns="0" rIns="0" bIns="0" rtlCol="0" anchor="ctr"/>
          <a:lstStyle/>
          <a:p>
            <a:pPr marL="0" indent="0">
              <a:buNone/>
            </a:pPr>
            <a:r>
              <a:rPr lang="en-US" sz="1500" b="1" dirty="0">
                <a:solidFill>
                  <a:schemeClr val="bg1"/>
                </a:solidFill>
              </a:rPr>
              <a:t>Print and download</a:t>
            </a:r>
            <a:endParaRPr lang="en-US" sz="1500" dirty="0"/>
          </a:p>
        </p:txBody>
      </p:sp>
      <p:sp>
        <p:nvSpPr>
          <p:cNvPr id="34" name="Text 25"/>
          <p:cNvSpPr txBox="1"/>
          <p:nvPr/>
        </p:nvSpPr>
        <p:spPr>
          <a:xfrm>
            <a:off x="6309360" y="3758184"/>
            <a:ext cx="2240280" cy="749808"/>
          </a:xfrm>
          <a:prstGeom prst="rect">
            <a:avLst/>
          </a:prstGeom>
          <a:noFill/>
          <a:ln/>
        </p:spPr>
        <p:txBody>
          <a:bodyPr wrap="square" lIns="0" tIns="0" rIns="0" bIns="0" rtlCol="0" anchor="t"/>
          <a:lstStyle/>
          <a:p>
            <a:pPr marL="0" indent="0">
              <a:buNone/>
            </a:pPr>
            <a:r>
              <a:rPr lang="en-US" sz="1400" dirty="0">
                <a:solidFill>
                  <a:schemeClr val="bg2"/>
                </a:solidFill>
              </a:rPr>
              <a:t>Copy, print or save the plan as text for offline use</a:t>
            </a:r>
            <a:endParaRPr lang="en-US" sz="14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The Kannada Touch</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ಕನ್ನಡ ಸ್ಪರ್ಶ</a:t>
            </a:r>
            <a:endParaRPr lang="en-US" sz="1600" dirty="0"/>
          </a:p>
        </p:txBody>
      </p:sp>
      <p:sp>
        <p:nvSpPr>
          <p:cNvPr id="5" name="Card tagline"/>
          <p:cNvSpPr/>
          <p:nvPr/>
        </p:nvSpPr>
        <p:spPr>
          <a:xfrm>
            <a:off x="457200" y="1417320"/>
            <a:ext cx="3931920" cy="1737360"/>
          </a:xfrm>
          <a:prstGeom prst="roundRect">
            <a:avLst>
              <a:gd name="adj" fmla="val 7368"/>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Text 3"/>
          <p:cNvSpPr txBox="1"/>
          <p:nvPr/>
        </p:nvSpPr>
        <p:spPr>
          <a:xfrm>
            <a:off x="685800" y="1508760"/>
            <a:ext cx="3474720" cy="594360"/>
          </a:xfrm>
          <a:prstGeom prst="rect">
            <a:avLst/>
          </a:prstGeom>
          <a:noFill/>
          <a:ln/>
        </p:spPr>
        <p:txBody>
          <a:bodyPr wrap="square" lIns="0" tIns="0" rIns="0" bIns="0" rtlCol="0" anchor="ctr"/>
          <a:lstStyle/>
          <a:p>
            <a:pPr marL="0" indent="0">
              <a:buNone/>
            </a:pPr>
            <a:r>
              <a:rPr lang="en-US" sz="2800" b="1" dirty="0">
                <a:solidFill>
                  <a:schemeClr val="accent1"/>
                </a:solidFill>
                <a:latin typeface="Nirmala UI" pitchFamily="34" charset="0"/>
                <a:ea typeface="Nirmala UI" pitchFamily="34" charset="-122"/>
                <a:cs typeface="Nirmala UI" pitchFamily="34" charset="-120"/>
              </a:rPr>
              <a:t>ಅತಿಥಿ ದೇವೋ ಭವ</a:t>
            </a:r>
            <a:endParaRPr lang="en-US" sz="2800" dirty="0"/>
          </a:p>
        </p:txBody>
      </p:sp>
      <p:sp>
        <p:nvSpPr>
          <p:cNvPr id="7" name="Text 4"/>
          <p:cNvSpPr txBox="1"/>
          <p:nvPr/>
        </p:nvSpPr>
        <p:spPr>
          <a:xfrm>
            <a:off x="685800" y="2103120"/>
            <a:ext cx="3474720" cy="274320"/>
          </a:xfrm>
          <a:prstGeom prst="rect">
            <a:avLst/>
          </a:prstGeom>
          <a:noFill/>
          <a:ln/>
        </p:spPr>
        <p:txBody>
          <a:bodyPr wrap="square" lIns="0" tIns="0" rIns="0" bIns="0" rtlCol="0" anchor="ctr"/>
          <a:lstStyle/>
          <a:p>
            <a:pPr marL="0" indent="0">
              <a:buNone/>
            </a:pPr>
            <a:r>
              <a:rPr lang="en-US" sz="1400" i="1" dirty="0">
                <a:solidFill>
                  <a:schemeClr val="bg2"/>
                </a:solidFill>
              </a:rPr>
              <a:t>Atithi Devo Bhava  ·  The guest is God</a:t>
            </a:r>
            <a:endParaRPr lang="en-US" sz="1400" dirty="0"/>
          </a:p>
        </p:txBody>
      </p:sp>
      <p:sp>
        <p:nvSpPr>
          <p:cNvPr id="8" name="Toggle track"/>
          <p:cNvSpPr/>
          <p:nvPr/>
        </p:nvSpPr>
        <p:spPr>
          <a:xfrm>
            <a:off x="685800" y="2560320"/>
            <a:ext cx="2834640" cy="457200"/>
          </a:xfrm>
          <a:prstGeom prst="roundRect">
            <a:avLst>
              <a:gd name="adj" fmla="val 50000"/>
            </a:avLst>
          </a:prstGeom>
          <a:solidFill>
            <a:schemeClr val="bg1">
              <a:alpha val="18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9" name="Toggle knob"/>
          <p:cNvSpPr/>
          <p:nvPr/>
        </p:nvSpPr>
        <p:spPr>
          <a:xfrm>
            <a:off x="2148840" y="2596896"/>
            <a:ext cx="1335024" cy="384048"/>
          </a:xfrm>
          <a:prstGeom prst="roundRect">
            <a:avLst>
              <a:gd name="adj" fmla="val 50000"/>
            </a:avLst>
          </a:prstGeom>
          <a:solidFill>
            <a:schemeClr val="accent1"/>
          </a:solidFill>
          <a:ln/>
        </p:spPr>
      </p:sp>
      <p:sp>
        <p:nvSpPr>
          <p:cNvPr id="10" name="Text 7"/>
          <p:cNvSpPr txBox="1"/>
          <p:nvPr/>
        </p:nvSpPr>
        <p:spPr>
          <a:xfrm>
            <a:off x="685800" y="2560320"/>
            <a:ext cx="1463040" cy="457200"/>
          </a:xfrm>
          <a:prstGeom prst="rect">
            <a:avLst/>
          </a:prstGeom>
          <a:noFill/>
          <a:ln/>
        </p:spPr>
        <p:txBody>
          <a:bodyPr wrap="square" lIns="0" tIns="0" rIns="0" bIns="0" rtlCol="0" anchor="ctr"/>
          <a:lstStyle/>
          <a:p>
            <a:pPr marL="0" indent="0" algn="ctr">
              <a:buNone/>
            </a:pPr>
            <a:r>
              <a:rPr lang="en-US" sz="1400" b="1" dirty="0">
                <a:solidFill>
                  <a:schemeClr val="bg1"/>
                </a:solidFill>
              </a:rPr>
              <a:t>English</a:t>
            </a:r>
            <a:endParaRPr lang="en-US" sz="1400" dirty="0"/>
          </a:p>
        </p:txBody>
      </p:sp>
      <p:sp>
        <p:nvSpPr>
          <p:cNvPr id="11" name="Text 8"/>
          <p:cNvSpPr txBox="1"/>
          <p:nvPr/>
        </p:nvSpPr>
        <p:spPr>
          <a:xfrm>
            <a:off x="2148840" y="2596896"/>
            <a:ext cx="1335024" cy="384048"/>
          </a:xfrm>
          <a:prstGeom prst="rect">
            <a:avLst/>
          </a:prstGeom>
          <a:noFill/>
          <a:ln/>
        </p:spPr>
        <p:txBody>
          <a:bodyPr wrap="square" lIns="0" tIns="0" rIns="0" bIns="0" rtlCol="0" anchor="ctr"/>
          <a:lstStyle/>
          <a:p>
            <a:pPr marL="0" indent="0" algn="ctr">
              <a:buNone/>
            </a:pPr>
            <a:r>
              <a:rPr lang="en-US" sz="1500" b="1" dirty="0">
                <a:solidFill>
                  <a:schemeClr val="tx1"/>
                </a:solidFill>
                <a:latin typeface="Nirmala UI" pitchFamily="34" charset="0"/>
                <a:ea typeface="Nirmala UI" pitchFamily="34" charset="-122"/>
                <a:cs typeface="Nirmala UI" pitchFamily="34" charset="-120"/>
              </a:rPr>
              <a:t>ಕನ್ನಡ</a:t>
            </a:r>
            <a:endParaRPr lang="en-US" sz="1500" dirty="0"/>
          </a:p>
        </p:txBody>
      </p:sp>
      <p:sp>
        <p:nvSpPr>
          <p:cNvPr id="12" name="Icon circle FaLanguage"/>
          <p:cNvSpPr/>
          <p:nvPr/>
        </p:nvSpPr>
        <p:spPr>
          <a:xfrm>
            <a:off x="3657600" y="2560320"/>
            <a:ext cx="457200" cy="457200"/>
          </a:xfrm>
          <a:prstGeom prst="ellipse">
            <a:avLst/>
          </a:prstGeom>
          <a:solidFill>
            <a:schemeClr val="accent3"/>
          </a:solidFill>
          <a:ln/>
        </p:spPr>
      </p:sp>
      <p:pic>
        <p:nvPicPr>
          <p:cNvPr id="13" name="Image 0" descr="Language icon"/>
          <p:cNvPicPr>
            <a:picLocks noChangeAspect="1"/>
          </p:cNvPicPr>
          <p:nvPr/>
        </p:nvPicPr>
        <p:blipFill>
          <a:blip r:embed="rId3"/>
          <a:stretch>
            <a:fillRect/>
          </a:stretch>
        </p:blipFill>
        <p:spPr>
          <a:xfrm>
            <a:off x="3771900" y="2674620"/>
            <a:ext cx="228600" cy="228600"/>
          </a:xfrm>
          <a:prstGeom prst="rect">
            <a:avLst/>
          </a:prstGeom>
        </p:spPr>
      </p:pic>
      <p:sp>
        <p:nvSpPr>
          <p:cNvPr id="14" name="Card food festivals"/>
          <p:cNvSpPr/>
          <p:nvPr/>
        </p:nvSpPr>
        <p:spPr>
          <a:xfrm>
            <a:off x="457200" y="3291840"/>
            <a:ext cx="3931920" cy="1234440"/>
          </a:xfrm>
          <a:prstGeom prst="roundRect">
            <a:avLst>
              <a:gd name="adj" fmla="val 1037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5" name="Text 11"/>
          <p:cNvSpPr txBox="1"/>
          <p:nvPr/>
        </p:nvSpPr>
        <p:spPr>
          <a:xfrm>
            <a:off x="685800" y="3346704"/>
            <a:ext cx="3566160" cy="1124712"/>
          </a:xfrm>
          <a:prstGeom prst="rect">
            <a:avLst/>
          </a:prstGeom>
          <a:noFill/>
          <a:ln/>
        </p:spPr>
        <p:txBody>
          <a:bodyPr wrap="square" lIns="0" tIns="0" rIns="0" bIns="0" rtlCol="0" anchor="ctr"/>
          <a:lstStyle/>
          <a:p>
            <a:pPr marL="0" indent="0">
              <a:spcAft>
                <a:spcPts val="300"/>
              </a:spcAft>
              <a:buNone/>
            </a:pPr>
            <a:r>
              <a:rPr lang="en-US" sz="1400" b="1" dirty="0">
                <a:solidFill>
                  <a:schemeClr val="accent1"/>
                </a:solidFill>
              </a:rPr>
              <a:t>Taste of Karnataka</a:t>
            </a:r>
            <a:endParaRPr lang="en-US" sz="1400" dirty="0"/>
          </a:p>
          <a:p>
            <a:pPr marL="0" indent="0">
              <a:spcAft>
                <a:spcPts val="300"/>
              </a:spcAft>
              <a:buNone/>
            </a:pPr>
            <a:r>
              <a:rPr lang="en-US" sz="1400" dirty="0">
                <a:solidFill>
                  <a:schemeClr val="bg1"/>
                </a:solidFill>
                <a:latin typeface="Nirmala UI" pitchFamily="34" charset="0"/>
                <a:ea typeface="Nirmala UI" pitchFamily="34" charset="-122"/>
                <a:cs typeface="Nirmala UI" pitchFamily="34" charset="-120"/>
              </a:rPr>
              <a:t>ಮೈಸೂರು ಪಾಕ್ · ಬೆಣ್ಣೆ ದೋಸೆ · ರಾಗಿ ಮುದ್ದೆ</a:t>
            </a:r>
            <a:endParaRPr lang="en-US" sz="1400" dirty="0"/>
          </a:p>
          <a:p>
            <a:pPr marL="0" indent="0">
              <a:spcAft>
                <a:spcPts val="300"/>
              </a:spcAft>
              <a:buNone/>
            </a:pPr>
            <a:r>
              <a:rPr lang="en-US" sz="1400" b="1" dirty="0">
                <a:solidFill>
                  <a:schemeClr val="accent1"/>
                </a:solidFill>
              </a:rPr>
              <a:t>Festivals</a:t>
            </a:r>
            <a:endParaRPr lang="en-US" sz="1400" dirty="0"/>
          </a:p>
          <a:p>
            <a:pPr marL="0" indent="0">
              <a:spcAft>
                <a:spcPts val="300"/>
              </a:spcAft>
              <a:buNone/>
            </a:pPr>
            <a:r>
              <a:rPr lang="en-US" sz="1400" dirty="0">
                <a:solidFill>
                  <a:schemeClr val="bg1"/>
                </a:solidFill>
                <a:latin typeface="Nirmala UI" pitchFamily="34" charset="0"/>
                <a:ea typeface="Nirmala UI" pitchFamily="34" charset="-122"/>
                <a:cs typeface="Nirmala UI" pitchFamily="34" charset="-120"/>
              </a:rPr>
              <a:t>ದಸರಾ · ಹಂಪಿ ಉತ್ಸವ · ಕಂಬಳ</a:t>
            </a:r>
            <a:endParaRPr lang="en-US" sz="1400" dirty="0"/>
          </a:p>
        </p:txBody>
      </p:sp>
      <p:sp>
        <p:nvSpPr>
          <p:cNvPr id="16" name="Card phrases"/>
          <p:cNvSpPr/>
          <p:nvPr/>
        </p:nvSpPr>
        <p:spPr>
          <a:xfrm>
            <a:off x="4572000" y="1417320"/>
            <a:ext cx="4114800" cy="3108960"/>
          </a:xfrm>
          <a:prstGeom prst="roundRect">
            <a:avLst>
              <a:gd name="adj" fmla="val 4118"/>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7" name="Icon circle FaVolumeUp"/>
          <p:cNvSpPr/>
          <p:nvPr/>
        </p:nvSpPr>
        <p:spPr>
          <a:xfrm>
            <a:off x="4754880" y="1554480"/>
            <a:ext cx="402336" cy="402336"/>
          </a:xfrm>
          <a:prstGeom prst="ellipse">
            <a:avLst/>
          </a:prstGeom>
          <a:solidFill>
            <a:schemeClr val="accent4"/>
          </a:solidFill>
          <a:ln/>
        </p:spPr>
      </p:sp>
      <p:pic>
        <p:nvPicPr>
          <p:cNvPr id="18" name="Image 1" descr="VolumeUp icon"/>
          <p:cNvPicPr>
            <a:picLocks noChangeAspect="1"/>
          </p:cNvPicPr>
          <p:nvPr/>
        </p:nvPicPr>
        <p:blipFill>
          <a:blip r:embed="rId4"/>
          <a:stretch>
            <a:fillRect/>
          </a:stretch>
        </p:blipFill>
        <p:spPr>
          <a:xfrm>
            <a:off x="4855464" y="1655064"/>
            <a:ext cx="201168" cy="201168"/>
          </a:xfrm>
          <a:prstGeom prst="rect">
            <a:avLst/>
          </a:prstGeom>
        </p:spPr>
      </p:pic>
      <p:sp>
        <p:nvSpPr>
          <p:cNvPr id="19" name="Text 14"/>
          <p:cNvSpPr txBox="1"/>
          <p:nvPr/>
        </p:nvSpPr>
        <p:spPr>
          <a:xfrm>
            <a:off x="5285232" y="1554480"/>
            <a:ext cx="3291840" cy="402336"/>
          </a:xfrm>
          <a:prstGeom prst="rect">
            <a:avLst/>
          </a:prstGeom>
          <a:noFill/>
          <a:ln/>
        </p:spPr>
        <p:txBody>
          <a:bodyPr wrap="square" lIns="0" tIns="0" rIns="0" bIns="0" rtlCol="0" anchor="ctr"/>
          <a:lstStyle/>
          <a:p>
            <a:pPr marL="0" indent="0">
              <a:buNone/>
            </a:pPr>
            <a:r>
              <a:rPr lang="en-US" sz="1500" b="1" dirty="0">
                <a:solidFill>
                  <a:schemeClr val="bg1"/>
                </a:solidFill>
              </a:rPr>
              <a:t>Kannada phrases  </a:t>
            </a:r>
            <a:r>
              <a:rPr lang="en-US" sz="1400" dirty="0">
                <a:solidFill>
                  <a:schemeClr val="accent1"/>
                </a:solidFill>
                <a:latin typeface="Nirmala UI" pitchFamily="34" charset="0"/>
                <a:ea typeface="Nirmala UI" pitchFamily="34" charset="-122"/>
                <a:cs typeface="Nirmala UI" pitchFamily="34" charset="-120"/>
              </a:rPr>
              <a:t>ನುಡಿಗಟ್ಟುಗಳು</a:t>
            </a:r>
            <a:endParaRPr lang="en-US" sz="1500" dirty="0"/>
          </a:p>
        </p:txBody>
      </p:sp>
      <p:sp>
        <p:nvSpPr>
          <p:cNvPr id="20" name="Phrase Namaskara"/>
          <p:cNvSpPr/>
          <p:nvPr/>
        </p:nvSpPr>
        <p:spPr>
          <a:xfrm>
            <a:off x="4754880" y="2121408"/>
            <a:ext cx="3749040" cy="512064"/>
          </a:xfrm>
          <a:prstGeom prst="roundRect">
            <a:avLst>
              <a:gd name="adj" fmla="val 17857"/>
            </a:avLst>
          </a:prstGeom>
          <a:solidFill>
            <a:schemeClr val="bg1">
              <a:alpha val="10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1" name="Text 16"/>
          <p:cNvSpPr txBox="1"/>
          <p:nvPr/>
        </p:nvSpPr>
        <p:spPr>
          <a:xfrm>
            <a:off x="4892040" y="2121408"/>
            <a:ext cx="1691640" cy="512064"/>
          </a:xfrm>
          <a:prstGeom prst="rect">
            <a:avLst/>
          </a:prstGeom>
          <a:noFill/>
          <a:ln/>
        </p:spPr>
        <p:txBody>
          <a:bodyPr wrap="square" lIns="0" tIns="0" rIns="0" bIns="0" rtlCol="0" anchor="ctr"/>
          <a:lstStyle/>
          <a:p>
            <a:pPr marL="0" indent="0">
              <a:buNone/>
            </a:pPr>
            <a:r>
              <a:rPr lang="en-US" sz="1600" b="1" dirty="0">
                <a:solidFill>
                  <a:schemeClr val="accent1"/>
                </a:solidFill>
                <a:latin typeface="Nirmala UI" pitchFamily="34" charset="0"/>
                <a:ea typeface="Nirmala UI" pitchFamily="34" charset="-122"/>
                <a:cs typeface="Nirmala UI" pitchFamily="34" charset="-120"/>
              </a:rPr>
              <a:t>ನಮಸ್ಕಾರ</a:t>
            </a:r>
            <a:endParaRPr lang="en-US" sz="1600" dirty="0"/>
          </a:p>
        </p:txBody>
      </p:sp>
      <p:sp>
        <p:nvSpPr>
          <p:cNvPr id="22" name="Text 17"/>
          <p:cNvSpPr txBox="1"/>
          <p:nvPr/>
        </p:nvSpPr>
        <p:spPr>
          <a:xfrm>
            <a:off x="6629400" y="2121408"/>
            <a:ext cx="1828800" cy="512064"/>
          </a:xfrm>
          <a:prstGeom prst="rect">
            <a:avLst/>
          </a:prstGeom>
          <a:noFill/>
          <a:ln/>
        </p:spPr>
        <p:txBody>
          <a:bodyPr wrap="square" lIns="0" tIns="0" rIns="0" bIns="0" rtlCol="0" anchor="ctr"/>
          <a:lstStyle/>
          <a:p>
            <a:pPr marL="0" indent="0">
              <a:buNone/>
            </a:pPr>
            <a:r>
              <a:rPr lang="en-US" sz="1400" b="1" dirty="0">
                <a:solidFill>
                  <a:schemeClr val="bg1"/>
                </a:solidFill>
              </a:rPr>
              <a:t>Namaskara</a:t>
            </a:r>
            <a:endParaRPr lang="en-US" sz="1400" dirty="0"/>
          </a:p>
          <a:p>
            <a:pPr marL="0" indent="0">
              <a:buNone/>
            </a:pPr>
            <a:r>
              <a:rPr lang="en-US" sz="1200" dirty="0">
                <a:solidFill>
                  <a:schemeClr val="bg2"/>
                </a:solidFill>
              </a:rPr>
              <a:t>Hello</a:t>
            </a:r>
            <a:endParaRPr lang="en-US" sz="1400" dirty="0"/>
          </a:p>
        </p:txBody>
      </p:sp>
      <p:sp>
        <p:nvSpPr>
          <p:cNvPr id="23" name="Phrase Dhanyavadagalu"/>
          <p:cNvSpPr/>
          <p:nvPr/>
        </p:nvSpPr>
        <p:spPr>
          <a:xfrm>
            <a:off x="4754880" y="2706624"/>
            <a:ext cx="3749040" cy="512064"/>
          </a:xfrm>
          <a:prstGeom prst="roundRect">
            <a:avLst>
              <a:gd name="adj" fmla="val 17857"/>
            </a:avLst>
          </a:prstGeom>
          <a:solidFill>
            <a:schemeClr val="bg1">
              <a:alpha val="10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4" name="Text 19"/>
          <p:cNvSpPr txBox="1"/>
          <p:nvPr/>
        </p:nvSpPr>
        <p:spPr>
          <a:xfrm>
            <a:off x="4892040" y="2706624"/>
            <a:ext cx="1691640" cy="512064"/>
          </a:xfrm>
          <a:prstGeom prst="rect">
            <a:avLst/>
          </a:prstGeom>
          <a:noFill/>
          <a:ln/>
        </p:spPr>
        <p:txBody>
          <a:bodyPr wrap="square" lIns="0" tIns="0" rIns="0" bIns="0" rtlCol="0" anchor="ctr"/>
          <a:lstStyle/>
          <a:p>
            <a:pPr marL="0" indent="0">
              <a:buNone/>
            </a:pPr>
            <a:r>
              <a:rPr lang="en-US" sz="1600" b="1" dirty="0">
                <a:solidFill>
                  <a:schemeClr val="accent1"/>
                </a:solidFill>
                <a:latin typeface="Nirmala UI" pitchFamily="34" charset="0"/>
                <a:ea typeface="Nirmala UI" pitchFamily="34" charset="-122"/>
                <a:cs typeface="Nirmala UI" pitchFamily="34" charset="-120"/>
              </a:rPr>
              <a:t>ಧನ್ಯವಾದಗಳು</a:t>
            </a:r>
            <a:endParaRPr lang="en-US" sz="1600" dirty="0"/>
          </a:p>
        </p:txBody>
      </p:sp>
      <p:sp>
        <p:nvSpPr>
          <p:cNvPr id="25" name="Text 20"/>
          <p:cNvSpPr txBox="1"/>
          <p:nvPr/>
        </p:nvSpPr>
        <p:spPr>
          <a:xfrm>
            <a:off x="6629400" y="2706624"/>
            <a:ext cx="1828800" cy="512064"/>
          </a:xfrm>
          <a:prstGeom prst="rect">
            <a:avLst/>
          </a:prstGeom>
          <a:noFill/>
          <a:ln/>
        </p:spPr>
        <p:txBody>
          <a:bodyPr wrap="square" lIns="0" tIns="0" rIns="0" bIns="0" rtlCol="0" anchor="ctr"/>
          <a:lstStyle/>
          <a:p>
            <a:pPr marL="0" indent="0">
              <a:buNone/>
            </a:pPr>
            <a:r>
              <a:rPr lang="en-US" sz="1400" b="1" dirty="0">
                <a:solidFill>
                  <a:schemeClr val="bg1"/>
                </a:solidFill>
              </a:rPr>
              <a:t>Dhanyavadagalu</a:t>
            </a:r>
            <a:endParaRPr lang="en-US" sz="1400" dirty="0"/>
          </a:p>
          <a:p>
            <a:pPr marL="0" indent="0">
              <a:buNone/>
            </a:pPr>
            <a:r>
              <a:rPr lang="en-US" sz="1200" dirty="0">
                <a:solidFill>
                  <a:schemeClr val="bg2"/>
                </a:solidFill>
              </a:rPr>
              <a:t>Thank you</a:t>
            </a:r>
            <a:endParaRPr lang="en-US" sz="1400" dirty="0"/>
          </a:p>
        </p:txBody>
      </p:sp>
      <p:sp>
        <p:nvSpPr>
          <p:cNvPr id="26" name="Phrase Idu eshtu?"/>
          <p:cNvSpPr/>
          <p:nvPr/>
        </p:nvSpPr>
        <p:spPr>
          <a:xfrm>
            <a:off x="4754880" y="3291840"/>
            <a:ext cx="3749040" cy="512064"/>
          </a:xfrm>
          <a:prstGeom prst="roundRect">
            <a:avLst>
              <a:gd name="adj" fmla="val 17857"/>
            </a:avLst>
          </a:prstGeom>
          <a:solidFill>
            <a:schemeClr val="bg1">
              <a:alpha val="10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7" name="Text 22"/>
          <p:cNvSpPr txBox="1"/>
          <p:nvPr/>
        </p:nvSpPr>
        <p:spPr>
          <a:xfrm>
            <a:off x="4892040" y="3291840"/>
            <a:ext cx="1691640" cy="512064"/>
          </a:xfrm>
          <a:prstGeom prst="rect">
            <a:avLst/>
          </a:prstGeom>
          <a:noFill/>
          <a:ln/>
        </p:spPr>
        <p:txBody>
          <a:bodyPr wrap="square" lIns="0" tIns="0" rIns="0" bIns="0" rtlCol="0" anchor="ctr"/>
          <a:lstStyle/>
          <a:p>
            <a:pPr marL="0" indent="0">
              <a:buNone/>
            </a:pPr>
            <a:r>
              <a:rPr lang="en-US" sz="1600" b="1" dirty="0">
                <a:solidFill>
                  <a:schemeClr val="accent1"/>
                </a:solidFill>
                <a:latin typeface="Nirmala UI" pitchFamily="34" charset="0"/>
                <a:ea typeface="Nirmala UI" pitchFamily="34" charset="-122"/>
                <a:cs typeface="Nirmala UI" pitchFamily="34" charset="-120"/>
              </a:rPr>
              <a:t>ಇದು ಎಷ್ಟು?</a:t>
            </a:r>
            <a:endParaRPr lang="en-US" sz="1600" dirty="0"/>
          </a:p>
        </p:txBody>
      </p:sp>
      <p:sp>
        <p:nvSpPr>
          <p:cNvPr id="28" name="Text 23"/>
          <p:cNvSpPr txBox="1"/>
          <p:nvPr/>
        </p:nvSpPr>
        <p:spPr>
          <a:xfrm>
            <a:off x="6629400" y="3291840"/>
            <a:ext cx="1828800" cy="512064"/>
          </a:xfrm>
          <a:prstGeom prst="rect">
            <a:avLst/>
          </a:prstGeom>
          <a:noFill/>
          <a:ln/>
        </p:spPr>
        <p:txBody>
          <a:bodyPr wrap="square" lIns="0" tIns="0" rIns="0" bIns="0" rtlCol="0" anchor="ctr"/>
          <a:lstStyle/>
          <a:p>
            <a:pPr marL="0" indent="0">
              <a:buNone/>
            </a:pPr>
            <a:r>
              <a:rPr lang="en-US" sz="1400" b="1" dirty="0">
                <a:solidFill>
                  <a:schemeClr val="bg1"/>
                </a:solidFill>
              </a:rPr>
              <a:t>Idu eshtu?</a:t>
            </a:r>
            <a:endParaRPr lang="en-US" sz="1400" dirty="0"/>
          </a:p>
          <a:p>
            <a:pPr marL="0" indent="0">
              <a:buNone/>
            </a:pPr>
            <a:r>
              <a:rPr lang="en-US" sz="1200" dirty="0">
                <a:solidFill>
                  <a:schemeClr val="bg2"/>
                </a:solidFill>
              </a:rPr>
              <a:t>How much is this?</a:t>
            </a:r>
            <a:endParaRPr lang="en-US" sz="1400" dirty="0"/>
          </a:p>
        </p:txBody>
      </p:sp>
      <p:sp>
        <p:nvSpPr>
          <p:cNvPr id="29" name="Phrase Tumba chennagide"/>
          <p:cNvSpPr/>
          <p:nvPr/>
        </p:nvSpPr>
        <p:spPr>
          <a:xfrm>
            <a:off x="4754880" y="3877056"/>
            <a:ext cx="3749040" cy="512064"/>
          </a:xfrm>
          <a:prstGeom prst="roundRect">
            <a:avLst>
              <a:gd name="adj" fmla="val 17857"/>
            </a:avLst>
          </a:prstGeom>
          <a:solidFill>
            <a:schemeClr val="bg1">
              <a:alpha val="10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30" name="Text 25"/>
          <p:cNvSpPr txBox="1"/>
          <p:nvPr/>
        </p:nvSpPr>
        <p:spPr>
          <a:xfrm>
            <a:off x="4892040" y="3877056"/>
            <a:ext cx="1691640" cy="512064"/>
          </a:xfrm>
          <a:prstGeom prst="rect">
            <a:avLst/>
          </a:prstGeom>
          <a:noFill/>
          <a:ln/>
        </p:spPr>
        <p:txBody>
          <a:bodyPr wrap="square" lIns="0" tIns="0" rIns="0" bIns="0" rtlCol="0" anchor="ctr"/>
          <a:lstStyle/>
          <a:p>
            <a:pPr marL="0" indent="0">
              <a:buNone/>
            </a:pPr>
            <a:r>
              <a:rPr lang="en-US" sz="1600" b="1" dirty="0">
                <a:solidFill>
                  <a:schemeClr val="accent1"/>
                </a:solidFill>
                <a:latin typeface="Nirmala UI" pitchFamily="34" charset="0"/>
                <a:ea typeface="Nirmala UI" pitchFamily="34" charset="-122"/>
                <a:cs typeface="Nirmala UI" pitchFamily="34" charset="-120"/>
              </a:rPr>
              <a:t>ತುಂಬಾ ಚೆನ್ನಾಗಿದೆ</a:t>
            </a:r>
            <a:endParaRPr lang="en-US" sz="1600" dirty="0"/>
          </a:p>
        </p:txBody>
      </p:sp>
      <p:sp>
        <p:nvSpPr>
          <p:cNvPr id="31" name="Text 26"/>
          <p:cNvSpPr txBox="1"/>
          <p:nvPr/>
        </p:nvSpPr>
        <p:spPr>
          <a:xfrm>
            <a:off x="6629400" y="3877056"/>
            <a:ext cx="1828800" cy="512064"/>
          </a:xfrm>
          <a:prstGeom prst="rect">
            <a:avLst/>
          </a:prstGeom>
          <a:noFill/>
          <a:ln/>
        </p:spPr>
        <p:txBody>
          <a:bodyPr wrap="square" lIns="0" tIns="0" rIns="0" bIns="0" rtlCol="0" anchor="ctr"/>
          <a:lstStyle/>
          <a:p>
            <a:pPr marL="0" indent="0">
              <a:buNone/>
            </a:pPr>
            <a:r>
              <a:rPr lang="en-US" sz="1400" b="1" dirty="0">
                <a:solidFill>
                  <a:schemeClr val="bg1"/>
                </a:solidFill>
              </a:rPr>
              <a:t>Tumba chennagide</a:t>
            </a:r>
            <a:endParaRPr lang="en-US" sz="1400" dirty="0"/>
          </a:p>
          <a:p>
            <a:pPr marL="0" indent="0">
              <a:buNone/>
            </a:pPr>
            <a:r>
              <a:rPr lang="en-US" sz="1200" dirty="0">
                <a:solidFill>
                  <a:schemeClr val="bg2"/>
                </a:solidFill>
              </a:rPr>
              <a:t>It is very nice</a:t>
            </a:r>
            <a:endParaRPr lang="en-US" sz="14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Tech Stack</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ತಂತ್ರಜ್ಞಾನ</a:t>
            </a:r>
            <a:endParaRPr lang="en-US" sz="1600" dirty="0"/>
          </a:p>
        </p:txBody>
      </p:sp>
      <p:sp>
        <p:nvSpPr>
          <p:cNvPr id="5" name="Stack Frontend"/>
          <p:cNvSpPr/>
          <p:nvPr/>
        </p:nvSpPr>
        <p:spPr>
          <a:xfrm>
            <a:off x="457200" y="1417320"/>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React"/>
          <p:cNvSpPr/>
          <p:nvPr/>
        </p:nvSpPr>
        <p:spPr>
          <a:xfrm>
            <a:off x="566928" y="1463040"/>
            <a:ext cx="365760" cy="365760"/>
          </a:xfrm>
          <a:prstGeom prst="ellipse">
            <a:avLst/>
          </a:prstGeom>
          <a:solidFill>
            <a:schemeClr val="accent4"/>
          </a:solidFill>
          <a:ln/>
        </p:spPr>
      </p:sp>
      <p:pic>
        <p:nvPicPr>
          <p:cNvPr id="7" name="Image 0" descr="React icon"/>
          <p:cNvPicPr>
            <a:picLocks noChangeAspect="1"/>
          </p:cNvPicPr>
          <p:nvPr/>
        </p:nvPicPr>
        <p:blipFill>
          <a:blip r:embed="rId3"/>
          <a:stretch>
            <a:fillRect/>
          </a:stretch>
        </p:blipFill>
        <p:spPr>
          <a:xfrm>
            <a:off x="658368" y="1554480"/>
            <a:ext cx="182880" cy="182880"/>
          </a:xfrm>
          <a:prstGeom prst="rect">
            <a:avLst/>
          </a:prstGeom>
        </p:spPr>
      </p:pic>
      <p:sp>
        <p:nvSpPr>
          <p:cNvPr id="8" name="Text 4"/>
          <p:cNvSpPr txBox="1"/>
          <p:nvPr/>
        </p:nvSpPr>
        <p:spPr>
          <a:xfrm>
            <a:off x="1097280" y="1417320"/>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Frontend</a:t>
            </a:r>
            <a:endParaRPr lang="en-US" sz="1500" dirty="0"/>
          </a:p>
        </p:txBody>
      </p:sp>
      <p:sp>
        <p:nvSpPr>
          <p:cNvPr id="9" name="Text 5"/>
          <p:cNvSpPr txBox="1"/>
          <p:nvPr/>
        </p:nvSpPr>
        <p:spPr>
          <a:xfrm>
            <a:off x="3063240" y="1417320"/>
            <a:ext cx="5486400" cy="457200"/>
          </a:xfrm>
          <a:prstGeom prst="rect">
            <a:avLst/>
          </a:prstGeom>
          <a:noFill/>
          <a:ln/>
        </p:spPr>
        <p:txBody>
          <a:bodyPr wrap="square" lIns="0" tIns="0" rIns="0" bIns="0" rtlCol="0" anchor="ctr"/>
          <a:lstStyle/>
          <a:p>
            <a:pPr marL="0" indent="0">
              <a:buNone/>
            </a:pPr>
            <a:r>
              <a:rPr lang="en-US" sz="1400" dirty="0">
                <a:solidFill>
                  <a:schemeClr val="bg1"/>
                </a:solidFill>
              </a:rPr>
              <a:t>Next.js 14 · TypeScript · Tailwind CSS · Framer Motion</a:t>
            </a:r>
            <a:endParaRPr lang="en-US" sz="1400" dirty="0"/>
          </a:p>
        </p:txBody>
      </p:sp>
      <p:sp>
        <p:nvSpPr>
          <p:cNvPr id="10" name="Stack Maps and charts"/>
          <p:cNvSpPr/>
          <p:nvPr/>
        </p:nvSpPr>
        <p:spPr>
          <a:xfrm>
            <a:off x="457200" y="1947672"/>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MapMarkedAlt"/>
          <p:cNvSpPr/>
          <p:nvPr/>
        </p:nvSpPr>
        <p:spPr>
          <a:xfrm>
            <a:off x="566928" y="1993392"/>
            <a:ext cx="365760" cy="365760"/>
          </a:xfrm>
          <a:prstGeom prst="ellipse">
            <a:avLst/>
          </a:prstGeom>
          <a:solidFill>
            <a:schemeClr val="accent3"/>
          </a:solidFill>
          <a:ln/>
        </p:spPr>
      </p:sp>
      <p:pic>
        <p:nvPicPr>
          <p:cNvPr id="12" name="Image 1" descr="MapMarkedAlt icon"/>
          <p:cNvPicPr>
            <a:picLocks noChangeAspect="1"/>
          </p:cNvPicPr>
          <p:nvPr/>
        </p:nvPicPr>
        <p:blipFill>
          <a:blip r:embed="rId4"/>
          <a:stretch>
            <a:fillRect/>
          </a:stretch>
        </p:blipFill>
        <p:spPr>
          <a:xfrm>
            <a:off x="658368" y="2084832"/>
            <a:ext cx="182880" cy="182880"/>
          </a:xfrm>
          <a:prstGeom prst="rect">
            <a:avLst/>
          </a:prstGeom>
        </p:spPr>
      </p:pic>
      <p:sp>
        <p:nvSpPr>
          <p:cNvPr id="13" name="Text 8"/>
          <p:cNvSpPr txBox="1"/>
          <p:nvPr/>
        </p:nvSpPr>
        <p:spPr>
          <a:xfrm>
            <a:off x="1097280" y="1947672"/>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Maps and charts</a:t>
            </a:r>
            <a:endParaRPr lang="en-US" sz="1500" dirty="0"/>
          </a:p>
        </p:txBody>
      </p:sp>
      <p:sp>
        <p:nvSpPr>
          <p:cNvPr id="14" name="Text 9"/>
          <p:cNvSpPr txBox="1"/>
          <p:nvPr/>
        </p:nvSpPr>
        <p:spPr>
          <a:xfrm>
            <a:off x="3063240" y="1947672"/>
            <a:ext cx="5486400" cy="457200"/>
          </a:xfrm>
          <a:prstGeom prst="rect">
            <a:avLst/>
          </a:prstGeom>
          <a:noFill/>
          <a:ln/>
        </p:spPr>
        <p:txBody>
          <a:bodyPr wrap="square" lIns="0" tIns="0" rIns="0" bIns="0" rtlCol="0" anchor="ctr"/>
          <a:lstStyle/>
          <a:p>
            <a:pPr marL="0" indent="0">
              <a:buNone/>
            </a:pPr>
            <a:r>
              <a:rPr lang="en-US" sz="1400" dirty="0">
                <a:solidFill>
                  <a:schemeClr val="bg1"/>
                </a:solidFill>
              </a:rPr>
              <a:t>React-Leaflet + OpenStreetMap · Recharts · Lucide icons</a:t>
            </a:r>
            <a:endParaRPr lang="en-US" sz="1400" dirty="0"/>
          </a:p>
        </p:txBody>
      </p:sp>
      <p:sp>
        <p:nvSpPr>
          <p:cNvPr id="15" name="Stack AI layer"/>
          <p:cNvSpPr/>
          <p:nvPr/>
        </p:nvSpPr>
        <p:spPr>
          <a:xfrm>
            <a:off x="457200" y="2478024"/>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Brain"/>
          <p:cNvSpPr/>
          <p:nvPr/>
        </p:nvSpPr>
        <p:spPr>
          <a:xfrm>
            <a:off x="566928" y="2523744"/>
            <a:ext cx="365760" cy="365760"/>
          </a:xfrm>
          <a:prstGeom prst="ellipse">
            <a:avLst/>
          </a:prstGeom>
          <a:solidFill>
            <a:schemeClr val="accent1"/>
          </a:solidFill>
          <a:ln/>
        </p:spPr>
      </p:sp>
      <p:pic>
        <p:nvPicPr>
          <p:cNvPr id="17" name="Image 2" descr="Brain icon"/>
          <p:cNvPicPr>
            <a:picLocks noChangeAspect="1"/>
          </p:cNvPicPr>
          <p:nvPr/>
        </p:nvPicPr>
        <p:blipFill>
          <a:blip r:embed="rId5"/>
          <a:stretch>
            <a:fillRect/>
          </a:stretch>
        </p:blipFill>
        <p:spPr>
          <a:xfrm>
            <a:off x="658368" y="2615184"/>
            <a:ext cx="182880" cy="182880"/>
          </a:xfrm>
          <a:prstGeom prst="rect">
            <a:avLst/>
          </a:prstGeom>
        </p:spPr>
      </p:pic>
      <p:sp>
        <p:nvSpPr>
          <p:cNvPr id="18" name="Text 12"/>
          <p:cNvSpPr txBox="1"/>
          <p:nvPr/>
        </p:nvSpPr>
        <p:spPr>
          <a:xfrm>
            <a:off x="1097280" y="2478024"/>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AI layer</a:t>
            </a:r>
            <a:endParaRPr lang="en-US" sz="1500" dirty="0"/>
          </a:p>
        </p:txBody>
      </p:sp>
      <p:sp>
        <p:nvSpPr>
          <p:cNvPr id="19" name="Text 13"/>
          <p:cNvSpPr txBox="1"/>
          <p:nvPr/>
        </p:nvSpPr>
        <p:spPr>
          <a:xfrm>
            <a:off x="3063240" y="2478024"/>
            <a:ext cx="5486400" cy="457200"/>
          </a:xfrm>
          <a:prstGeom prst="rect">
            <a:avLst/>
          </a:prstGeom>
          <a:noFill/>
          <a:ln/>
        </p:spPr>
        <p:txBody>
          <a:bodyPr wrap="square" lIns="0" tIns="0" rIns="0" bIns="0" rtlCol="0" anchor="ctr"/>
          <a:lstStyle/>
          <a:p>
            <a:pPr marL="0" indent="0">
              <a:buNone/>
            </a:pPr>
            <a:r>
              <a:rPr lang="en-US" sz="1400" dirty="0">
                <a:solidFill>
                  <a:schemeClr val="bg1"/>
                </a:solidFill>
              </a:rPr>
              <a:t>Gemini / Claude API for narration, with template fallback</a:t>
            </a:r>
            <a:endParaRPr lang="en-US" sz="1400" dirty="0"/>
          </a:p>
        </p:txBody>
      </p:sp>
      <p:sp>
        <p:nvSpPr>
          <p:cNvPr id="20" name="Stack Planner and data"/>
          <p:cNvSpPr/>
          <p:nvPr/>
        </p:nvSpPr>
        <p:spPr>
          <a:xfrm>
            <a:off x="457200" y="3008376"/>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1" name="Icon circle FaDatabase"/>
          <p:cNvSpPr/>
          <p:nvPr/>
        </p:nvSpPr>
        <p:spPr>
          <a:xfrm>
            <a:off x="566928" y="3054096"/>
            <a:ext cx="365760" cy="365760"/>
          </a:xfrm>
          <a:prstGeom prst="ellipse">
            <a:avLst/>
          </a:prstGeom>
          <a:solidFill>
            <a:schemeClr val="accent2"/>
          </a:solidFill>
          <a:ln/>
        </p:spPr>
      </p:sp>
      <p:pic>
        <p:nvPicPr>
          <p:cNvPr id="22" name="Image 3" descr="Database icon"/>
          <p:cNvPicPr>
            <a:picLocks noChangeAspect="1"/>
          </p:cNvPicPr>
          <p:nvPr/>
        </p:nvPicPr>
        <p:blipFill>
          <a:blip r:embed="rId6"/>
          <a:stretch>
            <a:fillRect/>
          </a:stretch>
        </p:blipFill>
        <p:spPr>
          <a:xfrm>
            <a:off x="658368" y="3145536"/>
            <a:ext cx="182880" cy="182880"/>
          </a:xfrm>
          <a:prstGeom prst="rect">
            <a:avLst/>
          </a:prstGeom>
        </p:spPr>
      </p:pic>
      <p:sp>
        <p:nvSpPr>
          <p:cNvPr id="23" name="Text 16"/>
          <p:cNvSpPr txBox="1"/>
          <p:nvPr/>
        </p:nvSpPr>
        <p:spPr>
          <a:xfrm>
            <a:off x="1097280" y="3008376"/>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Planner and data</a:t>
            </a:r>
            <a:endParaRPr lang="en-US" sz="1500" dirty="0"/>
          </a:p>
        </p:txBody>
      </p:sp>
      <p:sp>
        <p:nvSpPr>
          <p:cNvPr id="24" name="Text 17"/>
          <p:cNvSpPr txBox="1"/>
          <p:nvPr/>
        </p:nvSpPr>
        <p:spPr>
          <a:xfrm>
            <a:off x="3063240" y="3008376"/>
            <a:ext cx="5486400" cy="457200"/>
          </a:xfrm>
          <a:prstGeom prst="rect">
            <a:avLst/>
          </a:prstGeom>
          <a:noFill/>
          <a:ln/>
        </p:spPr>
        <p:txBody>
          <a:bodyPr wrap="square" lIns="0" tIns="0" rIns="0" bIns="0" rtlCol="0" anchor="ctr"/>
          <a:lstStyle/>
          <a:p>
            <a:pPr marL="0" indent="0">
              <a:buNone/>
            </a:pPr>
            <a:r>
              <a:rPr lang="en-US" sz="1400" dirty="0">
                <a:solidFill>
                  <a:schemeClr val="bg1"/>
                </a:solidFill>
              </a:rPr>
              <a:t>Typed dataset of 40+ places · Haversine · rule-based planner</a:t>
            </a:r>
            <a:endParaRPr lang="en-US" sz="1400" dirty="0"/>
          </a:p>
        </p:txBody>
      </p:sp>
      <p:sp>
        <p:nvSpPr>
          <p:cNvPr id="25" name="Stack Language"/>
          <p:cNvSpPr/>
          <p:nvPr/>
        </p:nvSpPr>
        <p:spPr>
          <a:xfrm>
            <a:off x="457200" y="3538728"/>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6" name="Icon circle FaLanguage"/>
          <p:cNvSpPr/>
          <p:nvPr/>
        </p:nvSpPr>
        <p:spPr>
          <a:xfrm>
            <a:off x="566928" y="3584448"/>
            <a:ext cx="365760" cy="365760"/>
          </a:xfrm>
          <a:prstGeom prst="ellipse">
            <a:avLst/>
          </a:prstGeom>
          <a:solidFill>
            <a:schemeClr val="accent3"/>
          </a:solidFill>
          <a:ln/>
        </p:spPr>
      </p:sp>
      <p:pic>
        <p:nvPicPr>
          <p:cNvPr id="27" name="Image 4" descr="Language icon"/>
          <p:cNvPicPr>
            <a:picLocks noChangeAspect="1"/>
          </p:cNvPicPr>
          <p:nvPr/>
        </p:nvPicPr>
        <p:blipFill>
          <a:blip r:embed="rId7"/>
          <a:stretch>
            <a:fillRect/>
          </a:stretch>
        </p:blipFill>
        <p:spPr>
          <a:xfrm>
            <a:off x="658368" y="3675888"/>
            <a:ext cx="182880" cy="182880"/>
          </a:xfrm>
          <a:prstGeom prst="rect">
            <a:avLst/>
          </a:prstGeom>
        </p:spPr>
      </p:pic>
      <p:sp>
        <p:nvSpPr>
          <p:cNvPr id="28" name="Text 20"/>
          <p:cNvSpPr txBox="1"/>
          <p:nvPr/>
        </p:nvSpPr>
        <p:spPr>
          <a:xfrm>
            <a:off x="1097280" y="3538728"/>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Language</a:t>
            </a:r>
            <a:endParaRPr lang="en-US" sz="1500" dirty="0"/>
          </a:p>
        </p:txBody>
      </p:sp>
      <p:sp>
        <p:nvSpPr>
          <p:cNvPr id="29" name="Text 21"/>
          <p:cNvSpPr txBox="1"/>
          <p:nvPr/>
        </p:nvSpPr>
        <p:spPr>
          <a:xfrm>
            <a:off x="3063240" y="3538728"/>
            <a:ext cx="5486400" cy="457200"/>
          </a:xfrm>
          <a:prstGeom prst="rect">
            <a:avLst/>
          </a:prstGeom>
          <a:noFill/>
          <a:ln/>
        </p:spPr>
        <p:txBody>
          <a:bodyPr wrap="square" lIns="0" tIns="0" rIns="0" bIns="0" rtlCol="0" anchor="ctr"/>
          <a:lstStyle/>
          <a:p>
            <a:pPr marL="0" indent="0">
              <a:buNone/>
            </a:pPr>
            <a:r>
              <a:rPr lang="en-US" sz="1400" dirty="0">
                <a:solidFill>
                  <a:schemeClr val="bg1"/>
                </a:solidFill>
              </a:rPr>
              <a:t>EN / </a:t>
            </a:r>
            <a:r>
              <a:rPr lang="en-US" sz="1400" dirty="0">
                <a:solidFill>
                  <a:schemeClr val="bg1"/>
                </a:solidFill>
                <a:latin typeface="Nirmala UI" pitchFamily="34" charset="0"/>
                <a:ea typeface="Nirmala UI" pitchFamily="34" charset="-122"/>
                <a:cs typeface="Nirmala UI" pitchFamily="34" charset="-120"/>
              </a:rPr>
              <a:t>ಕನ್ನಡ</a:t>
            </a:r>
            <a:r>
              <a:rPr lang="en-US" sz="1400" dirty="0">
                <a:solidFill>
                  <a:schemeClr val="bg1"/>
                </a:solidFill>
              </a:rPr>
              <a:t> dictionary · Noto Sans Kannada · speech kn-IN</a:t>
            </a:r>
            <a:endParaRPr lang="en-US" sz="1400" dirty="0"/>
          </a:p>
        </p:txBody>
      </p:sp>
      <p:sp>
        <p:nvSpPr>
          <p:cNvPr id="30" name="Stack Hosting and tooling"/>
          <p:cNvSpPr/>
          <p:nvPr/>
        </p:nvSpPr>
        <p:spPr>
          <a:xfrm>
            <a:off x="457200" y="4069080"/>
            <a:ext cx="8229600" cy="457200"/>
          </a:xfrm>
          <a:prstGeom prst="roundRect">
            <a:avLst>
              <a:gd name="adj" fmla="val 20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31" name="Icon circle FaCloud"/>
          <p:cNvSpPr/>
          <p:nvPr/>
        </p:nvSpPr>
        <p:spPr>
          <a:xfrm>
            <a:off x="566928" y="4114800"/>
            <a:ext cx="365760" cy="365760"/>
          </a:xfrm>
          <a:prstGeom prst="ellipse">
            <a:avLst/>
          </a:prstGeom>
          <a:solidFill>
            <a:schemeClr val="accent4"/>
          </a:solidFill>
          <a:ln/>
        </p:spPr>
      </p:sp>
      <p:pic>
        <p:nvPicPr>
          <p:cNvPr id="32" name="Image 5" descr="Cloud icon"/>
          <p:cNvPicPr>
            <a:picLocks noChangeAspect="1"/>
          </p:cNvPicPr>
          <p:nvPr/>
        </p:nvPicPr>
        <p:blipFill>
          <a:blip r:embed="rId8"/>
          <a:stretch>
            <a:fillRect/>
          </a:stretch>
        </p:blipFill>
        <p:spPr>
          <a:xfrm>
            <a:off x="658368" y="4206240"/>
            <a:ext cx="182880" cy="182880"/>
          </a:xfrm>
          <a:prstGeom prst="rect">
            <a:avLst/>
          </a:prstGeom>
        </p:spPr>
      </p:pic>
      <p:sp>
        <p:nvSpPr>
          <p:cNvPr id="33" name="Text 24"/>
          <p:cNvSpPr txBox="1"/>
          <p:nvPr/>
        </p:nvSpPr>
        <p:spPr>
          <a:xfrm>
            <a:off x="1097280" y="4069080"/>
            <a:ext cx="1920240" cy="457200"/>
          </a:xfrm>
          <a:prstGeom prst="rect">
            <a:avLst/>
          </a:prstGeom>
          <a:noFill/>
          <a:ln/>
        </p:spPr>
        <p:txBody>
          <a:bodyPr wrap="square" lIns="0" tIns="0" rIns="0" bIns="0" rtlCol="0" anchor="ctr"/>
          <a:lstStyle/>
          <a:p>
            <a:pPr marL="0" indent="0">
              <a:buNone/>
            </a:pPr>
            <a:r>
              <a:rPr lang="en-US" sz="1500" b="1" dirty="0">
                <a:solidFill>
                  <a:schemeClr val="accent1"/>
                </a:solidFill>
              </a:rPr>
              <a:t>Hosting and tooling</a:t>
            </a:r>
            <a:endParaRPr lang="en-US" sz="1500" dirty="0"/>
          </a:p>
        </p:txBody>
      </p:sp>
      <p:sp>
        <p:nvSpPr>
          <p:cNvPr id="34" name="Text 25"/>
          <p:cNvSpPr txBox="1"/>
          <p:nvPr/>
        </p:nvSpPr>
        <p:spPr>
          <a:xfrm>
            <a:off x="3063240" y="4069080"/>
            <a:ext cx="5486400" cy="457200"/>
          </a:xfrm>
          <a:prstGeom prst="rect">
            <a:avLst/>
          </a:prstGeom>
          <a:noFill/>
          <a:ln/>
        </p:spPr>
        <p:txBody>
          <a:bodyPr wrap="square" lIns="0" tIns="0" rIns="0" bIns="0" rtlCol="0" anchor="ctr"/>
          <a:lstStyle/>
          <a:p>
            <a:pPr marL="0" indent="0">
              <a:buNone/>
            </a:pPr>
            <a:r>
              <a:rPr lang="en-US" sz="1400" dirty="0">
                <a:solidFill>
                  <a:schemeClr val="bg1"/>
                </a:solidFill>
              </a:rPr>
              <a:t>Vercel · GitHub · secrets via .env (.env.example provided)</a:t>
            </a:r>
            <a:endParaRPr lang="en-US" sz="14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System Architecture</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ವ್ಯವಸ್ಥೆಯ ವಿನ್ಯಾಸ</a:t>
            </a:r>
            <a:endParaRPr lang="en-US" sz="1600" dirty="0"/>
          </a:p>
        </p:txBody>
      </p:sp>
      <p:sp>
        <p:nvSpPr>
          <p:cNvPr id="5" name="Box UI"/>
          <p:cNvSpPr/>
          <p:nvPr/>
        </p:nvSpPr>
        <p:spPr>
          <a:xfrm>
            <a:off x="457200" y="1417320"/>
            <a:ext cx="2011680" cy="2834640"/>
          </a:xfrm>
          <a:prstGeom prst="roundRect">
            <a:avLst>
              <a:gd name="adj" fmla="val 6364"/>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Desktop"/>
          <p:cNvSpPr/>
          <p:nvPr/>
        </p:nvSpPr>
        <p:spPr>
          <a:xfrm>
            <a:off x="594360" y="1527048"/>
            <a:ext cx="347472" cy="347472"/>
          </a:xfrm>
          <a:prstGeom prst="ellipse">
            <a:avLst/>
          </a:prstGeom>
          <a:solidFill>
            <a:schemeClr val="accent4"/>
          </a:solidFill>
          <a:ln/>
        </p:spPr>
      </p:sp>
      <p:pic>
        <p:nvPicPr>
          <p:cNvPr id="7" name="Image 0" descr="Desktop icon"/>
          <p:cNvPicPr>
            <a:picLocks noChangeAspect="1"/>
          </p:cNvPicPr>
          <p:nvPr/>
        </p:nvPicPr>
        <p:blipFill>
          <a:blip r:embed="rId3"/>
          <a:stretch>
            <a:fillRect/>
          </a:stretch>
        </p:blipFill>
        <p:spPr>
          <a:xfrm>
            <a:off x="681228" y="1613916"/>
            <a:ext cx="173736" cy="173736"/>
          </a:xfrm>
          <a:prstGeom prst="rect">
            <a:avLst/>
          </a:prstGeom>
        </p:spPr>
      </p:pic>
      <p:sp>
        <p:nvSpPr>
          <p:cNvPr id="8" name="Text 4"/>
          <p:cNvSpPr txBox="1"/>
          <p:nvPr/>
        </p:nvSpPr>
        <p:spPr>
          <a:xfrm>
            <a:off x="1024128" y="1527048"/>
            <a:ext cx="1353312" cy="347472"/>
          </a:xfrm>
          <a:prstGeom prst="rect">
            <a:avLst/>
          </a:prstGeom>
          <a:noFill/>
          <a:ln/>
        </p:spPr>
        <p:txBody>
          <a:bodyPr wrap="square" lIns="0" tIns="0" rIns="0" bIns="0" rtlCol="0" anchor="ctr"/>
          <a:lstStyle/>
          <a:p>
            <a:pPr marL="0" indent="0">
              <a:buNone/>
            </a:pPr>
            <a:r>
              <a:rPr lang="en-US" sz="1400" b="1" dirty="0">
                <a:solidFill>
                  <a:schemeClr val="bg1"/>
                </a:solidFill>
              </a:rPr>
              <a:t>Traveller UI</a:t>
            </a:r>
            <a:endParaRPr lang="en-US" sz="1400" dirty="0"/>
          </a:p>
        </p:txBody>
      </p:sp>
      <p:sp>
        <p:nvSpPr>
          <p:cNvPr id="9" name="Text 5"/>
          <p:cNvSpPr txBox="1"/>
          <p:nvPr/>
        </p:nvSpPr>
        <p:spPr>
          <a:xfrm>
            <a:off x="594360" y="1947672"/>
            <a:ext cx="1737360" cy="22311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2"/>
                </a:solidFill>
              </a:rPr>
              <a:t>Planner form</a:t>
            </a:r>
            <a:endParaRPr lang="en-US" sz="1200" dirty="0"/>
          </a:p>
          <a:p>
            <a:pPr marL="177800" indent="-177800">
              <a:spcAft>
                <a:spcPts val="500"/>
              </a:spcAft>
              <a:buSzPct val="100000"/>
              <a:buChar char="•"/>
            </a:pPr>
            <a:r>
              <a:rPr lang="en-US" sz="1200" dirty="0">
                <a:solidFill>
                  <a:schemeClr val="bg2"/>
                </a:solidFill>
              </a:rPr>
              <a:t>Itinerary timeline</a:t>
            </a:r>
            <a:endParaRPr lang="en-US" sz="1200" dirty="0"/>
          </a:p>
          <a:p>
            <a:pPr marL="177800" indent="-177800">
              <a:spcAft>
                <a:spcPts val="500"/>
              </a:spcAft>
              <a:buSzPct val="100000"/>
              <a:buChar char="•"/>
            </a:pPr>
            <a:r>
              <a:rPr lang="en-US" sz="1200" dirty="0">
                <a:solidFill>
                  <a:schemeClr val="bg2"/>
                </a:solidFill>
              </a:rPr>
              <a:t>Leaflet route map</a:t>
            </a:r>
            <a:endParaRPr lang="en-US" sz="1200" dirty="0"/>
          </a:p>
          <a:p>
            <a:pPr marL="177800" indent="-177800">
              <a:spcAft>
                <a:spcPts val="500"/>
              </a:spcAft>
              <a:buSzPct val="100000"/>
              <a:buChar char="•"/>
            </a:pPr>
            <a:r>
              <a:rPr lang="en-US" sz="1200" dirty="0">
                <a:solidFill>
                  <a:schemeClr val="bg2"/>
                </a:solidFill>
              </a:rPr>
              <a:t>Budget donut</a:t>
            </a:r>
            <a:endParaRPr lang="en-US" sz="1200" dirty="0"/>
          </a:p>
          <a:p>
            <a:pPr marL="177800" indent="-177800">
              <a:spcAft>
                <a:spcPts val="500"/>
              </a:spcAft>
              <a:buSzPct val="100000"/>
              <a:buChar char="•"/>
            </a:pPr>
            <a:r>
              <a:rPr lang="en-US" sz="1200" dirty="0">
                <a:solidFill>
                  <a:schemeClr val="bg2"/>
                </a:solidFill>
              </a:rPr>
              <a:t>EN / ಕನ್ನಡ toggle</a:t>
            </a:r>
            <a:endParaRPr lang="en-US" sz="1200" dirty="0"/>
          </a:p>
        </p:txBody>
      </p:sp>
      <p:sp>
        <p:nvSpPr>
          <p:cNvPr id="10" name="Box API"/>
          <p:cNvSpPr/>
          <p:nvPr/>
        </p:nvSpPr>
        <p:spPr>
          <a:xfrm>
            <a:off x="3291840" y="1417320"/>
            <a:ext cx="2651760" cy="1051560"/>
          </a:xfrm>
          <a:prstGeom prst="roundRect">
            <a:avLst>
              <a:gd name="adj" fmla="val 12174"/>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Server"/>
          <p:cNvSpPr/>
          <p:nvPr/>
        </p:nvSpPr>
        <p:spPr>
          <a:xfrm>
            <a:off x="3429000" y="1527048"/>
            <a:ext cx="347472" cy="347472"/>
          </a:xfrm>
          <a:prstGeom prst="ellipse">
            <a:avLst/>
          </a:prstGeom>
          <a:solidFill>
            <a:schemeClr val="accent1"/>
          </a:solidFill>
          <a:ln/>
        </p:spPr>
      </p:sp>
      <p:pic>
        <p:nvPicPr>
          <p:cNvPr id="12" name="Image 1" descr="Server icon"/>
          <p:cNvPicPr>
            <a:picLocks noChangeAspect="1"/>
          </p:cNvPicPr>
          <p:nvPr/>
        </p:nvPicPr>
        <p:blipFill>
          <a:blip r:embed="rId4"/>
          <a:stretch>
            <a:fillRect/>
          </a:stretch>
        </p:blipFill>
        <p:spPr>
          <a:xfrm>
            <a:off x="3515868" y="1613916"/>
            <a:ext cx="173736" cy="173736"/>
          </a:xfrm>
          <a:prstGeom prst="rect">
            <a:avLst/>
          </a:prstGeom>
        </p:spPr>
      </p:pic>
      <p:sp>
        <p:nvSpPr>
          <p:cNvPr id="13" name="Text 8"/>
          <p:cNvSpPr txBox="1"/>
          <p:nvPr/>
        </p:nvSpPr>
        <p:spPr>
          <a:xfrm>
            <a:off x="3858768" y="1527048"/>
            <a:ext cx="1993392" cy="347472"/>
          </a:xfrm>
          <a:prstGeom prst="rect">
            <a:avLst/>
          </a:prstGeom>
          <a:noFill/>
          <a:ln/>
        </p:spPr>
        <p:txBody>
          <a:bodyPr wrap="square" lIns="0" tIns="0" rIns="0" bIns="0" rtlCol="0" anchor="ctr"/>
          <a:lstStyle/>
          <a:p>
            <a:pPr marL="0" indent="0">
              <a:buNone/>
            </a:pPr>
            <a:r>
              <a:rPr lang="en-US" sz="1400" b="1" dirty="0">
                <a:solidFill>
                  <a:schemeClr val="bg1"/>
                </a:solidFill>
              </a:rPr>
              <a:t>Next.js API routes</a:t>
            </a:r>
            <a:endParaRPr lang="en-US" sz="1400" dirty="0"/>
          </a:p>
        </p:txBody>
      </p:sp>
      <p:sp>
        <p:nvSpPr>
          <p:cNvPr id="14" name="Text 9"/>
          <p:cNvSpPr txBox="1"/>
          <p:nvPr/>
        </p:nvSpPr>
        <p:spPr>
          <a:xfrm>
            <a:off x="3429000" y="1947672"/>
            <a:ext cx="2377440" cy="448056"/>
          </a:xfrm>
          <a:prstGeom prst="rect">
            <a:avLst/>
          </a:prstGeom>
          <a:noFill/>
          <a:ln/>
        </p:spPr>
        <p:txBody>
          <a:bodyPr wrap="square" lIns="0" tIns="0" rIns="0" bIns="0" rtlCol="0" anchor="t"/>
          <a:lstStyle/>
          <a:p>
            <a:pPr marL="0" indent="0">
              <a:buNone/>
            </a:pPr>
            <a:r>
              <a:rPr lang="en-US" sz="1200" dirty="0">
                <a:solidFill>
                  <a:schemeClr val="bg2"/>
                </a:solidFill>
              </a:rPr>
              <a:t>/api/plan  ·  /api/narrate</a:t>
            </a:r>
            <a:endParaRPr lang="en-US" sz="1200" dirty="0"/>
          </a:p>
        </p:txBody>
      </p:sp>
      <p:sp>
        <p:nvSpPr>
          <p:cNvPr id="15" name="Box Planner"/>
          <p:cNvSpPr/>
          <p:nvPr/>
        </p:nvSpPr>
        <p:spPr>
          <a:xfrm>
            <a:off x="3291840" y="3108960"/>
            <a:ext cx="2651760" cy="1143000"/>
          </a:xfrm>
          <a:prstGeom prst="roundRect">
            <a:avLst>
              <a:gd name="adj" fmla="val 112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Cogs"/>
          <p:cNvSpPr/>
          <p:nvPr/>
        </p:nvSpPr>
        <p:spPr>
          <a:xfrm>
            <a:off x="3429000" y="3218688"/>
            <a:ext cx="347472" cy="347472"/>
          </a:xfrm>
          <a:prstGeom prst="ellipse">
            <a:avLst/>
          </a:prstGeom>
          <a:solidFill>
            <a:schemeClr val="accent3"/>
          </a:solidFill>
          <a:ln/>
        </p:spPr>
      </p:sp>
      <p:pic>
        <p:nvPicPr>
          <p:cNvPr id="17" name="Image 2" descr="Cogs icon"/>
          <p:cNvPicPr>
            <a:picLocks noChangeAspect="1"/>
          </p:cNvPicPr>
          <p:nvPr/>
        </p:nvPicPr>
        <p:blipFill>
          <a:blip r:embed="rId5"/>
          <a:stretch>
            <a:fillRect/>
          </a:stretch>
        </p:blipFill>
        <p:spPr>
          <a:xfrm>
            <a:off x="3515868" y="3305556"/>
            <a:ext cx="173736" cy="173736"/>
          </a:xfrm>
          <a:prstGeom prst="rect">
            <a:avLst/>
          </a:prstGeom>
        </p:spPr>
      </p:pic>
      <p:sp>
        <p:nvSpPr>
          <p:cNvPr id="18" name="Text 12"/>
          <p:cNvSpPr txBox="1"/>
          <p:nvPr/>
        </p:nvSpPr>
        <p:spPr>
          <a:xfrm>
            <a:off x="3858768" y="3218688"/>
            <a:ext cx="1993392" cy="347472"/>
          </a:xfrm>
          <a:prstGeom prst="rect">
            <a:avLst/>
          </a:prstGeom>
          <a:noFill/>
          <a:ln/>
        </p:spPr>
        <p:txBody>
          <a:bodyPr wrap="square" lIns="0" tIns="0" rIns="0" bIns="0" rtlCol="0" anchor="ctr"/>
          <a:lstStyle/>
          <a:p>
            <a:pPr marL="0" indent="0">
              <a:buNone/>
            </a:pPr>
            <a:r>
              <a:rPr lang="en-US" sz="1400" b="1" dirty="0">
                <a:solidFill>
                  <a:schemeClr val="bg1"/>
                </a:solidFill>
              </a:rPr>
              <a:t>Planner engine</a:t>
            </a:r>
            <a:endParaRPr lang="en-US" sz="1400" dirty="0"/>
          </a:p>
        </p:txBody>
      </p:sp>
      <p:sp>
        <p:nvSpPr>
          <p:cNvPr id="19" name="Text 13"/>
          <p:cNvSpPr txBox="1"/>
          <p:nvPr/>
        </p:nvSpPr>
        <p:spPr>
          <a:xfrm>
            <a:off x="3429000" y="3639312"/>
            <a:ext cx="2377440" cy="539496"/>
          </a:xfrm>
          <a:prstGeom prst="rect">
            <a:avLst/>
          </a:prstGeom>
          <a:noFill/>
          <a:ln/>
        </p:spPr>
        <p:txBody>
          <a:bodyPr wrap="square" lIns="0" tIns="0" rIns="0" bIns="0" rtlCol="0" anchor="t"/>
          <a:lstStyle/>
          <a:p>
            <a:pPr marL="0" indent="0">
              <a:buNone/>
            </a:pPr>
            <a:r>
              <a:rPr lang="en-US" sz="1200" dirty="0">
                <a:solidFill>
                  <a:schemeClr val="bg2"/>
                </a:solidFill>
              </a:rPr>
              <a:t>Score  →  Cluster  →  Route  →  Budget</a:t>
            </a:r>
            <a:endParaRPr lang="en-US" sz="1200" dirty="0"/>
          </a:p>
        </p:txBody>
      </p:sp>
      <p:sp>
        <p:nvSpPr>
          <p:cNvPr id="20" name="Box AI"/>
          <p:cNvSpPr/>
          <p:nvPr/>
        </p:nvSpPr>
        <p:spPr>
          <a:xfrm>
            <a:off x="6675120" y="1417320"/>
            <a:ext cx="2011680" cy="1051560"/>
          </a:xfrm>
          <a:prstGeom prst="roundRect">
            <a:avLst>
              <a:gd name="adj" fmla="val 12174"/>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1" name="Icon circle FaBrain"/>
          <p:cNvSpPr/>
          <p:nvPr/>
        </p:nvSpPr>
        <p:spPr>
          <a:xfrm>
            <a:off x="6812280" y="1527048"/>
            <a:ext cx="347472" cy="347472"/>
          </a:xfrm>
          <a:prstGeom prst="ellipse">
            <a:avLst/>
          </a:prstGeom>
          <a:solidFill>
            <a:schemeClr val="accent2"/>
          </a:solidFill>
          <a:ln/>
        </p:spPr>
      </p:sp>
      <p:pic>
        <p:nvPicPr>
          <p:cNvPr id="22" name="Image 3" descr="Brain icon"/>
          <p:cNvPicPr>
            <a:picLocks noChangeAspect="1"/>
          </p:cNvPicPr>
          <p:nvPr/>
        </p:nvPicPr>
        <p:blipFill>
          <a:blip r:embed="rId6"/>
          <a:stretch>
            <a:fillRect/>
          </a:stretch>
        </p:blipFill>
        <p:spPr>
          <a:xfrm>
            <a:off x="6899148" y="1613916"/>
            <a:ext cx="173736" cy="173736"/>
          </a:xfrm>
          <a:prstGeom prst="rect">
            <a:avLst/>
          </a:prstGeom>
        </p:spPr>
      </p:pic>
      <p:sp>
        <p:nvSpPr>
          <p:cNvPr id="23" name="Text 16"/>
          <p:cNvSpPr txBox="1"/>
          <p:nvPr/>
        </p:nvSpPr>
        <p:spPr>
          <a:xfrm>
            <a:off x="7242048" y="1527048"/>
            <a:ext cx="1353312" cy="347472"/>
          </a:xfrm>
          <a:prstGeom prst="rect">
            <a:avLst/>
          </a:prstGeom>
          <a:noFill/>
          <a:ln/>
        </p:spPr>
        <p:txBody>
          <a:bodyPr wrap="square" lIns="0" tIns="0" rIns="0" bIns="0" rtlCol="0" anchor="ctr"/>
          <a:lstStyle/>
          <a:p>
            <a:pPr marL="0" indent="0">
              <a:buNone/>
            </a:pPr>
            <a:r>
              <a:rPr lang="en-US" sz="1400" b="1" dirty="0">
                <a:solidFill>
                  <a:schemeClr val="bg1"/>
                </a:solidFill>
              </a:rPr>
              <a:t>AI narration</a:t>
            </a:r>
            <a:endParaRPr lang="en-US" sz="1400" dirty="0"/>
          </a:p>
        </p:txBody>
      </p:sp>
      <p:sp>
        <p:nvSpPr>
          <p:cNvPr id="24" name="Text 17"/>
          <p:cNvSpPr txBox="1"/>
          <p:nvPr/>
        </p:nvSpPr>
        <p:spPr>
          <a:xfrm>
            <a:off x="6812280" y="1947672"/>
            <a:ext cx="1737360" cy="448056"/>
          </a:xfrm>
          <a:prstGeom prst="rect">
            <a:avLst/>
          </a:prstGeom>
          <a:noFill/>
          <a:ln/>
        </p:spPr>
        <p:txBody>
          <a:bodyPr wrap="square" lIns="0" tIns="0" rIns="0" bIns="0" rtlCol="0" anchor="t"/>
          <a:lstStyle/>
          <a:p>
            <a:pPr marL="0" indent="0">
              <a:buNone/>
            </a:pPr>
            <a:r>
              <a:rPr lang="en-US" sz="1200" dirty="0">
                <a:solidFill>
                  <a:schemeClr val="bg2"/>
                </a:solidFill>
              </a:rPr>
              <a:t>Gemini / Claude</a:t>
            </a:r>
            <a:endParaRPr lang="en-US" sz="1200" dirty="0"/>
          </a:p>
        </p:txBody>
      </p:sp>
      <p:sp>
        <p:nvSpPr>
          <p:cNvPr id="25" name="Box Data"/>
          <p:cNvSpPr/>
          <p:nvPr/>
        </p:nvSpPr>
        <p:spPr>
          <a:xfrm>
            <a:off x="6675120" y="3108960"/>
            <a:ext cx="2011680" cy="1143000"/>
          </a:xfrm>
          <a:prstGeom prst="roundRect">
            <a:avLst>
              <a:gd name="adj" fmla="val 112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26" name="Icon circle FaDatabase"/>
          <p:cNvSpPr/>
          <p:nvPr/>
        </p:nvSpPr>
        <p:spPr>
          <a:xfrm>
            <a:off x="6812280" y="3218688"/>
            <a:ext cx="347472" cy="347472"/>
          </a:xfrm>
          <a:prstGeom prst="ellipse">
            <a:avLst/>
          </a:prstGeom>
          <a:solidFill>
            <a:schemeClr val="accent4"/>
          </a:solidFill>
          <a:ln/>
        </p:spPr>
      </p:sp>
      <p:pic>
        <p:nvPicPr>
          <p:cNvPr id="27" name="Image 4" descr="Database icon"/>
          <p:cNvPicPr>
            <a:picLocks noChangeAspect="1"/>
          </p:cNvPicPr>
          <p:nvPr/>
        </p:nvPicPr>
        <p:blipFill>
          <a:blip r:embed="rId7"/>
          <a:stretch>
            <a:fillRect/>
          </a:stretch>
        </p:blipFill>
        <p:spPr>
          <a:xfrm>
            <a:off x="6899148" y="3305556"/>
            <a:ext cx="173736" cy="173736"/>
          </a:xfrm>
          <a:prstGeom prst="rect">
            <a:avLst/>
          </a:prstGeom>
        </p:spPr>
      </p:pic>
      <p:sp>
        <p:nvSpPr>
          <p:cNvPr id="28" name="Text 20"/>
          <p:cNvSpPr txBox="1"/>
          <p:nvPr/>
        </p:nvSpPr>
        <p:spPr>
          <a:xfrm>
            <a:off x="7242048" y="3218688"/>
            <a:ext cx="1353312" cy="347472"/>
          </a:xfrm>
          <a:prstGeom prst="rect">
            <a:avLst/>
          </a:prstGeom>
          <a:noFill/>
          <a:ln/>
        </p:spPr>
        <p:txBody>
          <a:bodyPr wrap="square" lIns="0" tIns="0" rIns="0" bIns="0" rtlCol="0" anchor="ctr"/>
          <a:lstStyle/>
          <a:p>
            <a:pPr marL="0" indent="0">
              <a:buNone/>
            </a:pPr>
            <a:r>
              <a:rPr lang="en-US" sz="1400" b="1" dirty="0">
                <a:solidFill>
                  <a:schemeClr val="bg1"/>
                </a:solidFill>
              </a:rPr>
              <a:t>Places dataset</a:t>
            </a:r>
            <a:endParaRPr lang="en-US" sz="1400" dirty="0"/>
          </a:p>
        </p:txBody>
      </p:sp>
      <p:sp>
        <p:nvSpPr>
          <p:cNvPr id="29" name="Text 21"/>
          <p:cNvSpPr txBox="1"/>
          <p:nvPr/>
        </p:nvSpPr>
        <p:spPr>
          <a:xfrm>
            <a:off x="6812280" y="3639312"/>
            <a:ext cx="1737360" cy="539496"/>
          </a:xfrm>
          <a:prstGeom prst="rect">
            <a:avLst/>
          </a:prstGeom>
          <a:noFill/>
          <a:ln/>
        </p:spPr>
        <p:txBody>
          <a:bodyPr wrap="square" lIns="0" tIns="0" rIns="0" bIns="0" rtlCol="0" anchor="t"/>
          <a:lstStyle/>
          <a:p>
            <a:pPr marL="0" indent="0">
              <a:buNone/>
            </a:pPr>
            <a:r>
              <a:rPr lang="en-US" sz="1200" dirty="0">
                <a:solidFill>
                  <a:schemeClr val="bg2"/>
                </a:solidFill>
              </a:rPr>
              <a:t>40+ places, EN and ಕನ್ನಡ</a:t>
            </a:r>
            <a:endParaRPr lang="en-US" sz="1200" dirty="0"/>
          </a:p>
        </p:txBody>
      </p:sp>
      <p:sp>
        <p:nvSpPr>
          <p:cNvPr id="30" name="Shape 22"/>
          <p:cNvSpPr/>
          <p:nvPr/>
        </p:nvSpPr>
        <p:spPr>
          <a:xfrm>
            <a:off x="2468880" y="1783080"/>
            <a:ext cx="822960" cy="0"/>
          </a:xfrm>
          <a:prstGeom prst="line">
            <a:avLst/>
          </a:prstGeom>
          <a:noFill/>
          <a:ln w="25400">
            <a:solidFill>
              <a:schemeClr val="accent1"/>
            </a:solidFill>
            <a:prstDash val="solid"/>
            <a:tailEnd type="triangle"/>
          </a:ln>
        </p:spPr>
      </p:sp>
      <p:sp>
        <p:nvSpPr>
          <p:cNvPr id="31" name="Text 23"/>
          <p:cNvSpPr txBox="1"/>
          <p:nvPr/>
        </p:nvSpPr>
        <p:spPr>
          <a:xfrm>
            <a:off x="2468880" y="1572768"/>
            <a:ext cx="822960" cy="201168"/>
          </a:xfrm>
          <a:prstGeom prst="rect">
            <a:avLst/>
          </a:prstGeom>
          <a:noFill/>
          <a:ln/>
        </p:spPr>
        <p:txBody>
          <a:bodyPr wrap="square" lIns="0" tIns="0" rIns="0" bIns="0" rtlCol="0" anchor="ctr"/>
          <a:lstStyle/>
          <a:p>
            <a:pPr marL="0" indent="0" algn="ctr">
              <a:buNone/>
            </a:pPr>
            <a:r>
              <a:rPr lang="en-US" sz="1000" i="1" dirty="0">
                <a:solidFill>
                  <a:schemeClr val="bg2"/>
                </a:solidFill>
              </a:rPr>
              <a:t>preferences</a:t>
            </a:r>
            <a:endParaRPr lang="en-US" sz="1000" dirty="0"/>
          </a:p>
        </p:txBody>
      </p:sp>
      <p:sp>
        <p:nvSpPr>
          <p:cNvPr id="32" name="Shape 24"/>
          <p:cNvSpPr/>
          <p:nvPr/>
        </p:nvSpPr>
        <p:spPr>
          <a:xfrm flipH="1">
            <a:off x="3291840" y="2194560"/>
            <a:ext cx="822960" cy="0"/>
          </a:xfrm>
          <a:prstGeom prst="line">
            <a:avLst/>
          </a:prstGeom>
          <a:noFill/>
          <a:ln w="25400">
            <a:solidFill>
              <a:schemeClr val="accent1"/>
            </a:solidFill>
            <a:prstDash val="solid"/>
            <a:tailEnd type="triangle"/>
          </a:ln>
        </p:spPr>
      </p:sp>
      <p:sp>
        <p:nvSpPr>
          <p:cNvPr id="33" name="Text 25"/>
          <p:cNvSpPr txBox="1"/>
          <p:nvPr/>
        </p:nvSpPr>
        <p:spPr>
          <a:xfrm>
            <a:off x="2468880" y="2240280"/>
            <a:ext cx="822960" cy="201168"/>
          </a:xfrm>
          <a:prstGeom prst="rect">
            <a:avLst/>
          </a:prstGeom>
          <a:noFill/>
          <a:ln/>
        </p:spPr>
        <p:txBody>
          <a:bodyPr wrap="square" lIns="0" tIns="0" rIns="0" bIns="0" rtlCol="0" anchor="ctr"/>
          <a:lstStyle/>
          <a:p>
            <a:pPr marL="0" indent="0" algn="ctr">
              <a:buNone/>
            </a:pPr>
            <a:r>
              <a:rPr lang="en-US" sz="1000" i="1" dirty="0">
                <a:solidFill>
                  <a:schemeClr val="bg2"/>
                </a:solidFill>
              </a:rPr>
              <a:t>itinerary</a:t>
            </a:r>
            <a:endParaRPr lang="en-US" sz="1000" dirty="0"/>
          </a:p>
        </p:txBody>
      </p:sp>
      <p:sp>
        <p:nvSpPr>
          <p:cNvPr id="34" name="Shape 26"/>
          <p:cNvSpPr/>
          <p:nvPr/>
        </p:nvSpPr>
        <p:spPr>
          <a:xfrm>
            <a:off x="5943600" y="1783080"/>
            <a:ext cx="731520" cy="0"/>
          </a:xfrm>
          <a:prstGeom prst="line">
            <a:avLst/>
          </a:prstGeom>
          <a:noFill/>
          <a:ln w="25400">
            <a:solidFill>
              <a:schemeClr val="accent1"/>
            </a:solidFill>
            <a:prstDash val="solid"/>
            <a:tailEnd type="triangle"/>
          </a:ln>
        </p:spPr>
      </p:sp>
      <p:sp>
        <p:nvSpPr>
          <p:cNvPr id="35" name="Text 27"/>
          <p:cNvSpPr txBox="1"/>
          <p:nvPr/>
        </p:nvSpPr>
        <p:spPr>
          <a:xfrm>
            <a:off x="5943600" y="1572768"/>
            <a:ext cx="731520" cy="201168"/>
          </a:xfrm>
          <a:prstGeom prst="rect">
            <a:avLst/>
          </a:prstGeom>
          <a:noFill/>
          <a:ln/>
        </p:spPr>
        <p:txBody>
          <a:bodyPr wrap="square" lIns="0" tIns="0" rIns="0" bIns="0" rtlCol="0" anchor="ctr"/>
          <a:lstStyle/>
          <a:p>
            <a:pPr marL="0" indent="0" algn="ctr">
              <a:buNone/>
            </a:pPr>
            <a:r>
              <a:rPr lang="en-US" sz="1000" i="1" dirty="0">
                <a:solidFill>
                  <a:schemeClr val="bg2"/>
                </a:solidFill>
              </a:rPr>
              <a:t>shortlist</a:t>
            </a:r>
            <a:endParaRPr lang="en-US" sz="1000" dirty="0"/>
          </a:p>
        </p:txBody>
      </p:sp>
      <p:sp>
        <p:nvSpPr>
          <p:cNvPr id="36" name="Shape 28"/>
          <p:cNvSpPr/>
          <p:nvPr/>
        </p:nvSpPr>
        <p:spPr>
          <a:xfrm flipH="1">
            <a:off x="6675120" y="2194560"/>
            <a:ext cx="731520" cy="0"/>
          </a:xfrm>
          <a:prstGeom prst="line">
            <a:avLst/>
          </a:prstGeom>
          <a:noFill/>
          <a:ln w="25400">
            <a:solidFill>
              <a:schemeClr val="accent1"/>
            </a:solidFill>
            <a:prstDash val="solid"/>
            <a:tailEnd type="triangle"/>
          </a:ln>
        </p:spPr>
      </p:sp>
      <p:sp>
        <p:nvSpPr>
          <p:cNvPr id="37" name="Text 29"/>
          <p:cNvSpPr txBox="1"/>
          <p:nvPr/>
        </p:nvSpPr>
        <p:spPr>
          <a:xfrm>
            <a:off x="5943600" y="2240280"/>
            <a:ext cx="731520" cy="201168"/>
          </a:xfrm>
          <a:prstGeom prst="rect">
            <a:avLst/>
          </a:prstGeom>
          <a:noFill/>
          <a:ln/>
        </p:spPr>
        <p:txBody>
          <a:bodyPr wrap="square" lIns="0" tIns="0" rIns="0" bIns="0" rtlCol="0" anchor="ctr"/>
          <a:lstStyle/>
          <a:p>
            <a:pPr marL="0" indent="0" algn="ctr">
              <a:buNone/>
            </a:pPr>
            <a:r>
              <a:rPr lang="en-US" sz="1000" i="1" dirty="0">
                <a:solidFill>
                  <a:schemeClr val="bg2"/>
                </a:solidFill>
              </a:rPr>
              <a:t>narration</a:t>
            </a:r>
            <a:endParaRPr lang="en-US" sz="1000" dirty="0"/>
          </a:p>
        </p:txBody>
      </p:sp>
      <p:sp>
        <p:nvSpPr>
          <p:cNvPr id="38" name="Shape 30"/>
          <p:cNvSpPr/>
          <p:nvPr/>
        </p:nvSpPr>
        <p:spPr>
          <a:xfrm>
            <a:off x="3931920" y="2468880"/>
            <a:ext cx="0" cy="640080"/>
          </a:xfrm>
          <a:prstGeom prst="line">
            <a:avLst/>
          </a:prstGeom>
          <a:noFill/>
          <a:ln w="25400">
            <a:solidFill>
              <a:schemeClr val="accent1"/>
            </a:solidFill>
            <a:prstDash val="solid"/>
            <a:tailEnd type="triangle"/>
          </a:ln>
        </p:spPr>
      </p:sp>
      <p:sp>
        <p:nvSpPr>
          <p:cNvPr id="39" name="Text 31"/>
          <p:cNvSpPr txBox="1"/>
          <p:nvPr/>
        </p:nvSpPr>
        <p:spPr>
          <a:xfrm>
            <a:off x="3246120" y="2679192"/>
            <a:ext cx="640080" cy="201168"/>
          </a:xfrm>
          <a:prstGeom prst="rect">
            <a:avLst/>
          </a:prstGeom>
          <a:noFill/>
          <a:ln/>
        </p:spPr>
        <p:txBody>
          <a:bodyPr wrap="square" lIns="0" tIns="0" rIns="0" bIns="0" rtlCol="0" anchor="ctr"/>
          <a:lstStyle/>
          <a:p>
            <a:pPr marL="0" indent="0" algn="r">
              <a:buNone/>
            </a:pPr>
            <a:r>
              <a:rPr lang="en-US" sz="1000" i="1" dirty="0">
                <a:solidFill>
                  <a:schemeClr val="bg2"/>
                </a:solidFill>
              </a:rPr>
              <a:t>criteria</a:t>
            </a:r>
            <a:endParaRPr lang="en-US" sz="1000" dirty="0"/>
          </a:p>
        </p:txBody>
      </p:sp>
      <p:sp>
        <p:nvSpPr>
          <p:cNvPr id="40" name="Shape 32"/>
          <p:cNvSpPr/>
          <p:nvPr/>
        </p:nvSpPr>
        <p:spPr>
          <a:xfrm flipV="1">
            <a:off x="5303520" y="2468880"/>
            <a:ext cx="0" cy="640080"/>
          </a:xfrm>
          <a:prstGeom prst="line">
            <a:avLst/>
          </a:prstGeom>
          <a:noFill/>
          <a:ln w="25400">
            <a:solidFill>
              <a:schemeClr val="accent1"/>
            </a:solidFill>
            <a:prstDash val="solid"/>
            <a:tailEnd type="triangle"/>
          </a:ln>
        </p:spPr>
      </p:sp>
      <p:sp>
        <p:nvSpPr>
          <p:cNvPr id="41" name="Text 33"/>
          <p:cNvSpPr txBox="1"/>
          <p:nvPr/>
        </p:nvSpPr>
        <p:spPr>
          <a:xfrm>
            <a:off x="5349240" y="2679192"/>
            <a:ext cx="548640" cy="201168"/>
          </a:xfrm>
          <a:prstGeom prst="rect">
            <a:avLst/>
          </a:prstGeom>
          <a:noFill/>
          <a:ln/>
        </p:spPr>
        <p:txBody>
          <a:bodyPr wrap="square" lIns="0" tIns="0" rIns="0" bIns="0" rtlCol="0" anchor="ctr"/>
          <a:lstStyle/>
          <a:p>
            <a:pPr marL="0" indent="0" algn="l">
              <a:buNone/>
            </a:pPr>
            <a:r>
              <a:rPr lang="en-US" sz="1000" i="1" dirty="0">
                <a:solidFill>
                  <a:schemeClr val="bg2"/>
                </a:solidFill>
              </a:rPr>
              <a:t>plan</a:t>
            </a:r>
            <a:endParaRPr lang="en-US" sz="1000" dirty="0"/>
          </a:p>
        </p:txBody>
      </p:sp>
      <p:sp>
        <p:nvSpPr>
          <p:cNvPr id="42" name="Shape 34"/>
          <p:cNvSpPr/>
          <p:nvPr/>
        </p:nvSpPr>
        <p:spPr>
          <a:xfrm>
            <a:off x="5943600" y="3474720"/>
            <a:ext cx="731520" cy="0"/>
          </a:xfrm>
          <a:prstGeom prst="line">
            <a:avLst/>
          </a:prstGeom>
          <a:noFill/>
          <a:ln w="25400">
            <a:solidFill>
              <a:schemeClr val="accent1"/>
            </a:solidFill>
            <a:prstDash val="solid"/>
            <a:tailEnd type="triangle"/>
          </a:ln>
        </p:spPr>
      </p:sp>
      <p:sp>
        <p:nvSpPr>
          <p:cNvPr id="43" name="Text 35"/>
          <p:cNvSpPr txBox="1"/>
          <p:nvPr/>
        </p:nvSpPr>
        <p:spPr>
          <a:xfrm>
            <a:off x="5943600" y="3264408"/>
            <a:ext cx="731520" cy="201168"/>
          </a:xfrm>
          <a:prstGeom prst="rect">
            <a:avLst/>
          </a:prstGeom>
          <a:noFill/>
          <a:ln/>
        </p:spPr>
        <p:txBody>
          <a:bodyPr wrap="square" lIns="0" tIns="0" rIns="0" bIns="0" rtlCol="0" anchor="ctr"/>
          <a:lstStyle/>
          <a:p>
            <a:pPr marL="0" indent="0" algn="ctr">
              <a:buNone/>
            </a:pPr>
            <a:r>
              <a:rPr lang="en-US" sz="1000" i="1" dirty="0">
                <a:solidFill>
                  <a:schemeClr val="bg2"/>
                </a:solidFill>
              </a:rPr>
              <a:t>query</a:t>
            </a:r>
            <a:endParaRPr lang="en-US" sz="1000" dirty="0"/>
          </a:p>
        </p:txBody>
      </p:sp>
      <p:sp>
        <p:nvSpPr>
          <p:cNvPr id="44" name="Shape 36"/>
          <p:cNvSpPr/>
          <p:nvPr/>
        </p:nvSpPr>
        <p:spPr>
          <a:xfrm flipH="1">
            <a:off x="6675120" y="3886200"/>
            <a:ext cx="731520" cy="0"/>
          </a:xfrm>
          <a:prstGeom prst="line">
            <a:avLst/>
          </a:prstGeom>
          <a:noFill/>
          <a:ln w="25400">
            <a:solidFill>
              <a:schemeClr val="accent1"/>
            </a:solidFill>
            <a:prstDash val="solid"/>
            <a:tailEnd type="triangle"/>
          </a:ln>
        </p:spPr>
      </p:sp>
      <p:sp>
        <p:nvSpPr>
          <p:cNvPr id="45" name="Text 37"/>
          <p:cNvSpPr txBox="1"/>
          <p:nvPr/>
        </p:nvSpPr>
        <p:spPr>
          <a:xfrm>
            <a:off x="5943600" y="3931920"/>
            <a:ext cx="731520" cy="201168"/>
          </a:xfrm>
          <a:prstGeom prst="rect">
            <a:avLst/>
          </a:prstGeom>
          <a:noFill/>
          <a:ln/>
        </p:spPr>
        <p:txBody>
          <a:bodyPr wrap="square" lIns="0" tIns="0" rIns="0" bIns="0" rtlCol="0" anchor="ctr"/>
          <a:lstStyle/>
          <a:p>
            <a:pPr marL="0" indent="0" algn="ctr">
              <a:buNone/>
            </a:pPr>
            <a:r>
              <a:rPr lang="en-US" sz="1000" i="1" dirty="0">
                <a:solidFill>
                  <a:schemeClr val="bg2"/>
                </a:solidFill>
              </a:rPr>
              <a:t>places</a:t>
            </a:r>
            <a:endParaRPr lang="en-US" sz="1000" dirty="0"/>
          </a:p>
        </p:txBody>
      </p:sp>
      <p:sp>
        <p:nvSpPr>
          <p:cNvPr id="46" name="Text 38"/>
          <p:cNvSpPr txBox="1"/>
          <p:nvPr/>
        </p:nvSpPr>
        <p:spPr>
          <a:xfrm>
            <a:off x="457200" y="4389120"/>
            <a:ext cx="8229600" cy="256032"/>
          </a:xfrm>
          <a:prstGeom prst="rect">
            <a:avLst/>
          </a:prstGeom>
          <a:noFill/>
          <a:ln/>
        </p:spPr>
        <p:txBody>
          <a:bodyPr wrap="square" lIns="0" tIns="0" rIns="0" bIns="0" rtlCol="0" anchor="ctr"/>
          <a:lstStyle/>
          <a:p>
            <a:pPr marL="0" indent="0" algn="ctr">
              <a:buNone/>
            </a:pPr>
            <a:r>
              <a:rPr lang="en-US" sz="1200" i="1" dirty="0">
                <a:solidFill>
                  <a:schemeClr val="bg2"/>
                </a:solidFill>
              </a:rPr>
              <a:t>No API key? Rule-based planning plus template narration keeps the app running.</a:t>
            </a:r>
            <a:endParaRPr lang="en-US" sz="1200" dirty="0"/>
          </a:p>
        </p:txBody>
      </p:sp>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Sample Itinerary</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ಮಾದರಿ ಪ್ರಯಾಣ ಯೋಜನೆ</a:t>
            </a:r>
            <a:endParaRPr lang="en-US" sz="1600" dirty="0"/>
          </a:p>
        </p:txBody>
      </p:sp>
      <p:sp>
        <p:nvSpPr>
          <p:cNvPr id="5" name="Day card 1"/>
          <p:cNvSpPr/>
          <p:nvPr/>
        </p:nvSpPr>
        <p:spPr>
          <a:xfrm>
            <a:off x="457200" y="1417320"/>
            <a:ext cx="1783080" cy="3108960"/>
          </a:xfrm>
          <a:prstGeom prst="roundRect">
            <a:avLst>
              <a:gd name="adj" fmla="val 717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Text 3"/>
          <p:cNvSpPr txBox="1"/>
          <p:nvPr/>
        </p:nvSpPr>
        <p:spPr>
          <a:xfrm>
            <a:off x="594360" y="1508760"/>
            <a:ext cx="1554480" cy="292608"/>
          </a:xfrm>
          <a:prstGeom prst="rect">
            <a:avLst/>
          </a:prstGeom>
          <a:noFill/>
          <a:ln/>
        </p:spPr>
        <p:txBody>
          <a:bodyPr wrap="square" lIns="0" tIns="0" rIns="0" bIns="0" rtlCol="0" anchor="ctr"/>
          <a:lstStyle/>
          <a:p>
            <a:pPr marL="0" indent="0">
              <a:buNone/>
            </a:pPr>
            <a:r>
              <a:rPr lang="en-US" sz="1600" b="1" dirty="0">
                <a:solidFill>
                  <a:schemeClr val="accent1"/>
                </a:solidFill>
              </a:rPr>
              <a:t>Day 1</a:t>
            </a:r>
            <a:r>
              <a:rPr lang="en-US" sz="1200" dirty="0">
                <a:solidFill>
                  <a:schemeClr val="bg1"/>
                </a:solidFill>
              </a:rPr>
              <a:t>  </a:t>
            </a:r>
            <a:r>
              <a:rPr lang="en-US" sz="1400" b="1" dirty="0">
                <a:solidFill>
                  <a:schemeClr val="accent1"/>
                </a:solidFill>
                <a:latin typeface="Nirmala UI" pitchFamily="34" charset="0"/>
                <a:ea typeface="Nirmala UI" pitchFamily="34" charset="-122"/>
                <a:cs typeface="Nirmala UI" pitchFamily="34" charset="-120"/>
              </a:rPr>
              <a:t>ದಿನ ೧</a:t>
            </a:r>
            <a:endParaRPr lang="en-US" sz="1600" dirty="0"/>
          </a:p>
        </p:txBody>
      </p:sp>
      <p:sp>
        <p:nvSpPr>
          <p:cNvPr id="7" name="Text 4"/>
          <p:cNvSpPr txBox="1"/>
          <p:nvPr/>
        </p:nvSpPr>
        <p:spPr>
          <a:xfrm>
            <a:off x="594360" y="1810512"/>
            <a:ext cx="1554480" cy="256032"/>
          </a:xfrm>
          <a:prstGeom prst="rect">
            <a:avLst/>
          </a:prstGeom>
          <a:noFill/>
          <a:ln/>
        </p:spPr>
        <p:txBody>
          <a:bodyPr wrap="square" lIns="0" tIns="0" rIns="0" bIns="0" rtlCol="0" anchor="ctr"/>
          <a:lstStyle/>
          <a:p>
            <a:pPr marL="0" indent="0">
              <a:buNone/>
            </a:pPr>
            <a:r>
              <a:rPr lang="en-US" sz="1300" i="1" dirty="0">
                <a:solidFill>
                  <a:schemeClr val="bg2"/>
                </a:solidFill>
              </a:rPr>
              <a:t>Royal Mysuru</a:t>
            </a:r>
            <a:endParaRPr lang="en-US" sz="1300" dirty="0"/>
          </a:p>
        </p:txBody>
      </p:sp>
      <p:sp>
        <p:nvSpPr>
          <p:cNvPr id="8" name="Dot 1.1"/>
          <p:cNvSpPr/>
          <p:nvPr/>
        </p:nvSpPr>
        <p:spPr>
          <a:xfrm>
            <a:off x="594360" y="2286000"/>
            <a:ext cx="274320" cy="274320"/>
          </a:xfrm>
          <a:prstGeom prst="ellipse">
            <a:avLst/>
          </a:prstGeom>
          <a:solidFill>
            <a:schemeClr val="accent1"/>
          </a:solidFill>
          <a:ln/>
        </p:spPr>
      </p:sp>
      <p:sp>
        <p:nvSpPr>
          <p:cNvPr id="9" name="Text 6"/>
          <p:cNvSpPr txBox="1"/>
          <p:nvPr/>
        </p:nvSpPr>
        <p:spPr>
          <a:xfrm>
            <a:off x="594360" y="2286000"/>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10" name="Text 7"/>
          <p:cNvSpPr txBox="1"/>
          <p:nvPr/>
        </p:nvSpPr>
        <p:spPr>
          <a:xfrm>
            <a:off x="960120" y="2176272"/>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Mysuru Palace</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ಮೈಸೂರು ಅರಮನೆ</a:t>
            </a:r>
            <a:endParaRPr lang="en-US" sz="1400" dirty="0"/>
          </a:p>
        </p:txBody>
      </p:sp>
      <p:sp>
        <p:nvSpPr>
          <p:cNvPr id="11" name="Dot 1.2"/>
          <p:cNvSpPr/>
          <p:nvPr/>
        </p:nvSpPr>
        <p:spPr>
          <a:xfrm>
            <a:off x="594360" y="2852928"/>
            <a:ext cx="274320" cy="274320"/>
          </a:xfrm>
          <a:prstGeom prst="ellipse">
            <a:avLst/>
          </a:prstGeom>
          <a:solidFill>
            <a:schemeClr val="accent1"/>
          </a:solidFill>
          <a:ln/>
        </p:spPr>
      </p:sp>
      <p:sp>
        <p:nvSpPr>
          <p:cNvPr id="12" name="Text 9"/>
          <p:cNvSpPr txBox="1"/>
          <p:nvPr/>
        </p:nvSpPr>
        <p:spPr>
          <a:xfrm>
            <a:off x="594360" y="28529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13" name="Text 10"/>
          <p:cNvSpPr txBox="1"/>
          <p:nvPr/>
        </p:nvSpPr>
        <p:spPr>
          <a:xfrm>
            <a:off x="960120" y="2743200"/>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Chamundi Hills</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ಚಾಮುಂಡಿ ಬೆಟ್ಟ</a:t>
            </a:r>
            <a:endParaRPr lang="en-US" sz="1400" dirty="0"/>
          </a:p>
        </p:txBody>
      </p:sp>
      <p:sp>
        <p:nvSpPr>
          <p:cNvPr id="14" name="Dot 1.3"/>
          <p:cNvSpPr/>
          <p:nvPr/>
        </p:nvSpPr>
        <p:spPr>
          <a:xfrm>
            <a:off x="594360" y="3419856"/>
            <a:ext cx="274320" cy="274320"/>
          </a:xfrm>
          <a:prstGeom prst="ellipse">
            <a:avLst/>
          </a:prstGeom>
          <a:solidFill>
            <a:schemeClr val="accent1"/>
          </a:solidFill>
          <a:ln/>
        </p:spPr>
      </p:sp>
      <p:sp>
        <p:nvSpPr>
          <p:cNvPr id="15" name="Text 12"/>
          <p:cNvSpPr txBox="1"/>
          <p:nvPr/>
        </p:nvSpPr>
        <p:spPr>
          <a:xfrm>
            <a:off x="594360" y="3419856"/>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16" name="Text 13"/>
          <p:cNvSpPr txBox="1"/>
          <p:nvPr/>
        </p:nvSpPr>
        <p:spPr>
          <a:xfrm>
            <a:off x="960120" y="3310128"/>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Brindavan</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ಬೃಂದಾವನ ಉದ್ಯಾನ</a:t>
            </a:r>
            <a:endParaRPr lang="en-US" sz="1400" dirty="0"/>
          </a:p>
        </p:txBody>
      </p:sp>
      <p:sp>
        <p:nvSpPr>
          <p:cNvPr id="17" name="Text 14"/>
          <p:cNvSpPr txBox="1"/>
          <p:nvPr/>
        </p:nvSpPr>
        <p:spPr>
          <a:xfrm>
            <a:off x="594360" y="4160520"/>
            <a:ext cx="1554480" cy="274320"/>
          </a:xfrm>
          <a:prstGeom prst="rect">
            <a:avLst/>
          </a:prstGeom>
          <a:noFill/>
          <a:ln/>
        </p:spPr>
        <p:txBody>
          <a:bodyPr wrap="square" lIns="0" tIns="0" rIns="0" bIns="0" rtlCol="0" anchor="ctr"/>
          <a:lstStyle/>
          <a:p>
            <a:pPr marL="0" indent="0">
              <a:buNone/>
            </a:pPr>
            <a:r>
              <a:rPr lang="en-US" sz="1400" b="1" dirty="0">
                <a:solidFill>
                  <a:schemeClr val="accent1"/>
                </a:solidFill>
              </a:rPr>
              <a:t>≈ ₹5,200 / day</a:t>
            </a:r>
            <a:endParaRPr lang="en-US" sz="1400" dirty="0"/>
          </a:p>
        </p:txBody>
      </p:sp>
      <p:sp>
        <p:nvSpPr>
          <p:cNvPr id="18" name="Day card 2"/>
          <p:cNvSpPr/>
          <p:nvPr/>
        </p:nvSpPr>
        <p:spPr>
          <a:xfrm>
            <a:off x="2350008" y="1417320"/>
            <a:ext cx="1783080" cy="3108960"/>
          </a:xfrm>
          <a:prstGeom prst="roundRect">
            <a:avLst>
              <a:gd name="adj" fmla="val 717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9" name="Text 16"/>
          <p:cNvSpPr txBox="1"/>
          <p:nvPr/>
        </p:nvSpPr>
        <p:spPr>
          <a:xfrm>
            <a:off x="2487168" y="1508760"/>
            <a:ext cx="1554480" cy="292608"/>
          </a:xfrm>
          <a:prstGeom prst="rect">
            <a:avLst/>
          </a:prstGeom>
          <a:noFill/>
          <a:ln/>
        </p:spPr>
        <p:txBody>
          <a:bodyPr wrap="square" lIns="0" tIns="0" rIns="0" bIns="0" rtlCol="0" anchor="ctr"/>
          <a:lstStyle/>
          <a:p>
            <a:pPr marL="0" indent="0">
              <a:buNone/>
            </a:pPr>
            <a:r>
              <a:rPr lang="en-US" sz="1600" b="1" dirty="0">
                <a:solidFill>
                  <a:schemeClr val="accent3"/>
                </a:solidFill>
              </a:rPr>
              <a:t>Day 2</a:t>
            </a:r>
            <a:r>
              <a:rPr lang="en-US" sz="1200" dirty="0">
                <a:solidFill>
                  <a:schemeClr val="bg1"/>
                </a:solidFill>
              </a:rPr>
              <a:t>  </a:t>
            </a:r>
            <a:r>
              <a:rPr lang="en-US" sz="1400" b="1" dirty="0">
                <a:solidFill>
                  <a:schemeClr val="accent3"/>
                </a:solidFill>
                <a:latin typeface="Nirmala UI" pitchFamily="34" charset="0"/>
                <a:ea typeface="Nirmala UI" pitchFamily="34" charset="-122"/>
                <a:cs typeface="Nirmala UI" pitchFamily="34" charset="-120"/>
              </a:rPr>
              <a:t>ದಿನ ೨</a:t>
            </a:r>
            <a:endParaRPr lang="en-US" sz="1600" dirty="0"/>
          </a:p>
        </p:txBody>
      </p:sp>
      <p:sp>
        <p:nvSpPr>
          <p:cNvPr id="20" name="Text 17"/>
          <p:cNvSpPr txBox="1"/>
          <p:nvPr/>
        </p:nvSpPr>
        <p:spPr>
          <a:xfrm>
            <a:off x="2487168" y="1810512"/>
            <a:ext cx="1554480" cy="256032"/>
          </a:xfrm>
          <a:prstGeom prst="rect">
            <a:avLst/>
          </a:prstGeom>
          <a:noFill/>
          <a:ln/>
        </p:spPr>
        <p:txBody>
          <a:bodyPr wrap="square" lIns="0" tIns="0" rIns="0" bIns="0" rtlCol="0" anchor="ctr"/>
          <a:lstStyle/>
          <a:p>
            <a:pPr marL="0" indent="0">
              <a:buNone/>
            </a:pPr>
            <a:r>
              <a:rPr lang="en-US" sz="1300" i="1" dirty="0">
                <a:solidFill>
                  <a:schemeClr val="bg2"/>
                </a:solidFill>
              </a:rPr>
              <a:t>Heritage to hills</a:t>
            </a:r>
            <a:endParaRPr lang="en-US" sz="1300" dirty="0"/>
          </a:p>
        </p:txBody>
      </p:sp>
      <p:sp>
        <p:nvSpPr>
          <p:cNvPr id="21" name="Dot 2.1"/>
          <p:cNvSpPr/>
          <p:nvPr/>
        </p:nvSpPr>
        <p:spPr>
          <a:xfrm>
            <a:off x="2487168" y="2286000"/>
            <a:ext cx="274320" cy="274320"/>
          </a:xfrm>
          <a:prstGeom prst="ellipse">
            <a:avLst/>
          </a:prstGeom>
          <a:solidFill>
            <a:schemeClr val="accent3"/>
          </a:solidFill>
          <a:ln/>
        </p:spPr>
      </p:sp>
      <p:sp>
        <p:nvSpPr>
          <p:cNvPr id="22" name="Text 19"/>
          <p:cNvSpPr txBox="1"/>
          <p:nvPr/>
        </p:nvSpPr>
        <p:spPr>
          <a:xfrm>
            <a:off x="2487168" y="2286000"/>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23" name="Text 20"/>
          <p:cNvSpPr txBox="1"/>
          <p:nvPr/>
        </p:nvSpPr>
        <p:spPr>
          <a:xfrm>
            <a:off x="2852928" y="2176272"/>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Srirangapatna</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ಶ್ರೀರಂಗಪಟ್ಟಣ</a:t>
            </a:r>
            <a:endParaRPr lang="en-US" sz="1400" dirty="0"/>
          </a:p>
        </p:txBody>
      </p:sp>
      <p:sp>
        <p:nvSpPr>
          <p:cNvPr id="24" name="Dot 2.2"/>
          <p:cNvSpPr/>
          <p:nvPr/>
        </p:nvSpPr>
        <p:spPr>
          <a:xfrm>
            <a:off x="2487168" y="2852928"/>
            <a:ext cx="274320" cy="274320"/>
          </a:xfrm>
          <a:prstGeom prst="ellipse">
            <a:avLst/>
          </a:prstGeom>
          <a:solidFill>
            <a:schemeClr val="accent3"/>
          </a:solidFill>
          <a:ln/>
        </p:spPr>
      </p:sp>
      <p:sp>
        <p:nvSpPr>
          <p:cNvPr id="25" name="Text 22"/>
          <p:cNvSpPr txBox="1"/>
          <p:nvPr/>
        </p:nvSpPr>
        <p:spPr>
          <a:xfrm>
            <a:off x="2487168" y="28529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26" name="Text 23"/>
          <p:cNvSpPr txBox="1"/>
          <p:nvPr/>
        </p:nvSpPr>
        <p:spPr>
          <a:xfrm>
            <a:off x="2852928" y="2743200"/>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Dubare Camp</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ದುಬಾರೆ</a:t>
            </a:r>
            <a:endParaRPr lang="en-US" sz="1400" dirty="0"/>
          </a:p>
        </p:txBody>
      </p:sp>
      <p:sp>
        <p:nvSpPr>
          <p:cNvPr id="27" name="Dot 2.3"/>
          <p:cNvSpPr/>
          <p:nvPr/>
        </p:nvSpPr>
        <p:spPr>
          <a:xfrm>
            <a:off x="2487168" y="3419856"/>
            <a:ext cx="274320" cy="274320"/>
          </a:xfrm>
          <a:prstGeom prst="ellipse">
            <a:avLst/>
          </a:prstGeom>
          <a:solidFill>
            <a:schemeClr val="accent3"/>
          </a:solidFill>
          <a:ln/>
        </p:spPr>
      </p:sp>
      <p:sp>
        <p:nvSpPr>
          <p:cNvPr id="28" name="Text 25"/>
          <p:cNvSpPr txBox="1"/>
          <p:nvPr/>
        </p:nvSpPr>
        <p:spPr>
          <a:xfrm>
            <a:off x="2487168" y="3419856"/>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29" name="Text 26"/>
          <p:cNvSpPr txBox="1"/>
          <p:nvPr/>
        </p:nvSpPr>
        <p:spPr>
          <a:xfrm>
            <a:off x="2852928" y="3310128"/>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Abbey Falls</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ಅಬ್ಬಿ ಜಲಪಾತ</a:t>
            </a:r>
            <a:endParaRPr lang="en-US" sz="1400" dirty="0"/>
          </a:p>
        </p:txBody>
      </p:sp>
      <p:sp>
        <p:nvSpPr>
          <p:cNvPr id="30" name="Text 27"/>
          <p:cNvSpPr txBox="1"/>
          <p:nvPr/>
        </p:nvSpPr>
        <p:spPr>
          <a:xfrm>
            <a:off x="2487168" y="4160520"/>
            <a:ext cx="1554480" cy="274320"/>
          </a:xfrm>
          <a:prstGeom prst="rect">
            <a:avLst/>
          </a:prstGeom>
          <a:noFill/>
          <a:ln/>
        </p:spPr>
        <p:txBody>
          <a:bodyPr wrap="square" lIns="0" tIns="0" rIns="0" bIns="0" rtlCol="0" anchor="ctr"/>
          <a:lstStyle/>
          <a:p>
            <a:pPr marL="0" indent="0">
              <a:buNone/>
            </a:pPr>
            <a:r>
              <a:rPr lang="en-US" sz="1400" b="1" dirty="0">
                <a:solidFill>
                  <a:schemeClr val="accent3"/>
                </a:solidFill>
              </a:rPr>
              <a:t>≈ ₹5,100 / day</a:t>
            </a:r>
            <a:endParaRPr lang="en-US" sz="1400" dirty="0"/>
          </a:p>
        </p:txBody>
      </p:sp>
      <p:sp>
        <p:nvSpPr>
          <p:cNvPr id="31" name="Day card 3"/>
          <p:cNvSpPr/>
          <p:nvPr/>
        </p:nvSpPr>
        <p:spPr>
          <a:xfrm>
            <a:off x="4242816" y="1417320"/>
            <a:ext cx="1783080" cy="3108960"/>
          </a:xfrm>
          <a:prstGeom prst="roundRect">
            <a:avLst>
              <a:gd name="adj" fmla="val 7179"/>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32" name="Text 29"/>
          <p:cNvSpPr txBox="1"/>
          <p:nvPr/>
        </p:nvSpPr>
        <p:spPr>
          <a:xfrm>
            <a:off x="4379976" y="1508760"/>
            <a:ext cx="1554480" cy="292608"/>
          </a:xfrm>
          <a:prstGeom prst="rect">
            <a:avLst/>
          </a:prstGeom>
          <a:noFill/>
          <a:ln/>
        </p:spPr>
        <p:txBody>
          <a:bodyPr wrap="square" lIns="0" tIns="0" rIns="0" bIns="0" rtlCol="0" anchor="ctr"/>
          <a:lstStyle/>
          <a:p>
            <a:pPr marL="0" indent="0">
              <a:buNone/>
            </a:pPr>
            <a:r>
              <a:rPr lang="en-US" sz="1600" b="1" dirty="0">
                <a:solidFill>
                  <a:schemeClr val="accent4"/>
                </a:solidFill>
              </a:rPr>
              <a:t>Day 3</a:t>
            </a:r>
            <a:r>
              <a:rPr lang="en-US" sz="1200" dirty="0">
                <a:solidFill>
                  <a:schemeClr val="bg1"/>
                </a:solidFill>
              </a:rPr>
              <a:t>  </a:t>
            </a:r>
            <a:r>
              <a:rPr lang="en-US" sz="1400" b="1" dirty="0">
                <a:solidFill>
                  <a:schemeClr val="accent4"/>
                </a:solidFill>
                <a:latin typeface="Nirmala UI" pitchFamily="34" charset="0"/>
                <a:ea typeface="Nirmala UI" pitchFamily="34" charset="-122"/>
                <a:cs typeface="Nirmala UI" pitchFamily="34" charset="-120"/>
              </a:rPr>
              <a:t>ದಿನ ೩</a:t>
            </a:r>
            <a:endParaRPr lang="en-US" sz="1600" dirty="0"/>
          </a:p>
        </p:txBody>
      </p:sp>
      <p:sp>
        <p:nvSpPr>
          <p:cNvPr id="33" name="Text 30"/>
          <p:cNvSpPr txBox="1"/>
          <p:nvPr/>
        </p:nvSpPr>
        <p:spPr>
          <a:xfrm>
            <a:off x="4379976" y="1810512"/>
            <a:ext cx="1554480" cy="256032"/>
          </a:xfrm>
          <a:prstGeom prst="rect">
            <a:avLst/>
          </a:prstGeom>
          <a:noFill/>
          <a:ln/>
        </p:spPr>
        <p:txBody>
          <a:bodyPr wrap="square" lIns="0" tIns="0" rIns="0" bIns="0" rtlCol="0" anchor="ctr"/>
          <a:lstStyle/>
          <a:p>
            <a:pPr marL="0" indent="0">
              <a:buNone/>
            </a:pPr>
            <a:r>
              <a:rPr lang="en-US" sz="1300" i="1" dirty="0">
                <a:solidFill>
                  <a:schemeClr val="bg2"/>
                </a:solidFill>
              </a:rPr>
              <a:t>Coffee and culture</a:t>
            </a:r>
            <a:endParaRPr lang="en-US" sz="1300" dirty="0"/>
          </a:p>
        </p:txBody>
      </p:sp>
      <p:sp>
        <p:nvSpPr>
          <p:cNvPr id="34" name="Dot 3.1"/>
          <p:cNvSpPr/>
          <p:nvPr/>
        </p:nvSpPr>
        <p:spPr>
          <a:xfrm>
            <a:off x="4379976" y="2286000"/>
            <a:ext cx="274320" cy="274320"/>
          </a:xfrm>
          <a:prstGeom prst="ellipse">
            <a:avLst/>
          </a:prstGeom>
          <a:solidFill>
            <a:schemeClr val="accent4"/>
          </a:solidFill>
          <a:ln/>
        </p:spPr>
      </p:sp>
      <p:sp>
        <p:nvSpPr>
          <p:cNvPr id="35" name="Text 32"/>
          <p:cNvSpPr txBox="1"/>
          <p:nvPr/>
        </p:nvSpPr>
        <p:spPr>
          <a:xfrm>
            <a:off x="4379976" y="2286000"/>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36" name="Text 33"/>
          <p:cNvSpPr txBox="1"/>
          <p:nvPr/>
        </p:nvSpPr>
        <p:spPr>
          <a:xfrm>
            <a:off x="4745736" y="2176272"/>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Madikeri</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ಮಡಿಕೇರಿ</a:t>
            </a:r>
            <a:endParaRPr lang="en-US" sz="1400" dirty="0"/>
          </a:p>
        </p:txBody>
      </p:sp>
      <p:sp>
        <p:nvSpPr>
          <p:cNvPr id="37" name="Dot 3.2"/>
          <p:cNvSpPr/>
          <p:nvPr/>
        </p:nvSpPr>
        <p:spPr>
          <a:xfrm>
            <a:off x="4379976" y="2852928"/>
            <a:ext cx="274320" cy="274320"/>
          </a:xfrm>
          <a:prstGeom prst="ellipse">
            <a:avLst/>
          </a:prstGeom>
          <a:solidFill>
            <a:schemeClr val="accent4"/>
          </a:solidFill>
          <a:ln/>
        </p:spPr>
      </p:sp>
      <p:sp>
        <p:nvSpPr>
          <p:cNvPr id="38" name="Text 35"/>
          <p:cNvSpPr txBox="1"/>
          <p:nvPr/>
        </p:nvSpPr>
        <p:spPr>
          <a:xfrm>
            <a:off x="4379976" y="285292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39" name="Text 36"/>
          <p:cNvSpPr txBox="1"/>
          <p:nvPr/>
        </p:nvSpPr>
        <p:spPr>
          <a:xfrm>
            <a:off x="4745736" y="2743200"/>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Coffee estate</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ಕಾಫಿ ತೋಟ</a:t>
            </a:r>
            <a:endParaRPr lang="en-US" sz="1400" dirty="0"/>
          </a:p>
        </p:txBody>
      </p:sp>
      <p:sp>
        <p:nvSpPr>
          <p:cNvPr id="40" name="Dot 3.3"/>
          <p:cNvSpPr/>
          <p:nvPr/>
        </p:nvSpPr>
        <p:spPr>
          <a:xfrm>
            <a:off x="4379976" y="3419856"/>
            <a:ext cx="274320" cy="274320"/>
          </a:xfrm>
          <a:prstGeom prst="ellipse">
            <a:avLst/>
          </a:prstGeom>
          <a:solidFill>
            <a:schemeClr val="accent4"/>
          </a:solidFill>
          <a:ln/>
        </p:spPr>
      </p:sp>
      <p:sp>
        <p:nvSpPr>
          <p:cNvPr id="41" name="Text 38"/>
          <p:cNvSpPr txBox="1"/>
          <p:nvPr/>
        </p:nvSpPr>
        <p:spPr>
          <a:xfrm>
            <a:off x="4379976" y="3419856"/>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42" name="Text 39"/>
          <p:cNvSpPr txBox="1"/>
          <p:nvPr/>
        </p:nvSpPr>
        <p:spPr>
          <a:xfrm>
            <a:off x="4745736" y="3310128"/>
            <a:ext cx="1234440" cy="502920"/>
          </a:xfrm>
          <a:prstGeom prst="rect">
            <a:avLst/>
          </a:prstGeom>
          <a:noFill/>
          <a:ln/>
        </p:spPr>
        <p:txBody>
          <a:bodyPr wrap="square" lIns="0" tIns="0" rIns="0" bIns="0" rtlCol="0" anchor="ctr"/>
          <a:lstStyle/>
          <a:p>
            <a:pPr marL="0" indent="0">
              <a:buNone/>
            </a:pPr>
            <a:r>
              <a:rPr lang="en-US" sz="1400" b="1" dirty="0">
                <a:solidFill>
                  <a:schemeClr val="bg1"/>
                </a:solidFill>
              </a:rPr>
              <a:t>Kodava meal</a:t>
            </a:r>
            <a:endParaRPr lang="en-US" sz="1400" dirty="0"/>
          </a:p>
          <a:p>
            <a:pPr marL="0" indent="0">
              <a:buNone/>
            </a:pPr>
            <a:r>
              <a:rPr lang="en-US" sz="1200" dirty="0">
                <a:solidFill>
                  <a:schemeClr val="bg2"/>
                </a:solidFill>
                <a:latin typeface="Nirmala UI" pitchFamily="34" charset="0"/>
                <a:ea typeface="Nirmala UI" pitchFamily="34" charset="-122"/>
                <a:cs typeface="Nirmala UI" pitchFamily="34" charset="-120"/>
              </a:rPr>
              <a:t>ಕೊಡವ ಊಟ</a:t>
            </a:r>
            <a:endParaRPr lang="en-US" sz="1400" dirty="0"/>
          </a:p>
        </p:txBody>
      </p:sp>
      <p:sp>
        <p:nvSpPr>
          <p:cNvPr id="43" name="Text 40"/>
          <p:cNvSpPr txBox="1"/>
          <p:nvPr/>
        </p:nvSpPr>
        <p:spPr>
          <a:xfrm>
            <a:off x="4379976" y="4160520"/>
            <a:ext cx="1554480" cy="274320"/>
          </a:xfrm>
          <a:prstGeom prst="rect">
            <a:avLst/>
          </a:prstGeom>
          <a:noFill/>
          <a:ln/>
        </p:spPr>
        <p:txBody>
          <a:bodyPr wrap="square" lIns="0" tIns="0" rIns="0" bIns="0" rtlCol="0" anchor="ctr"/>
          <a:lstStyle/>
          <a:p>
            <a:pPr marL="0" indent="0">
              <a:buNone/>
            </a:pPr>
            <a:r>
              <a:rPr lang="en-US" sz="1400" b="1" dirty="0">
                <a:solidFill>
                  <a:schemeClr val="accent4"/>
                </a:solidFill>
              </a:rPr>
              <a:t>≈ ₹4,700 / day</a:t>
            </a:r>
            <a:endParaRPr lang="en-US" sz="1400" dirty="0"/>
          </a:p>
        </p:txBody>
      </p:sp>
      <p:sp>
        <p:nvSpPr>
          <p:cNvPr id="44" name="Card budget"/>
          <p:cNvSpPr/>
          <p:nvPr/>
        </p:nvSpPr>
        <p:spPr>
          <a:xfrm>
            <a:off x="612648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45" name="Text 42"/>
          <p:cNvSpPr txBox="1"/>
          <p:nvPr/>
        </p:nvSpPr>
        <p:spPr>
          <a:xfrm>
            <a:off x="6263640" y="1508760"/>
            <a:ext cx="2286000" cy="274320"/>
          </a:xfrm>
          <a:prstGeom prst="rect">
            <a:avLst/>
          </a:prstGeom>
          <a:noFill/>
          <a:ln/>
        </p:spPr>
        <p:txBody>
          <a:bodyPr wrap="square" lIns="0" tIns="0" rIns="0" bIns="0" rtlCol="0" anchor="ctr"/>
          <a:lstStyle/>
          <a:p>
            <a:pPr marL="0" indent="0">
              <a:buNone/>
            </a:pPr>
            <a:r>
              <a:rPr lang="en-US" sz="1400" b="1" dirty="0">
                <a:solidFill>
                  <a:schemeClr val="bg1"/>
                </a:solidFill>
              </a:rPr>
              <a:t>Illustrative budget</a:t>
            </a:r>
            <a:endParaRPr lang="en-US" sz="1400" dirty="0"/>
          </a:p>
        </p:txBody>
      </p:sp>
      <p:sp>
        <p:nvSpPr>
          <p:cNvPr id="46" name="Text 43"/>
          <p:cNvSpPr txBox="1"/>
          <p:nvPr/>
        </p:nvSpPr>
        <p:spPr>
          <a:xfrm>
            <a:off x="6263640" y="1764792"/>
            <a:ext cx="2286000" cy="237744"/>
          </a:xfrm>
          <a:prstGeom prst="rect">
            <a:avLst/>
          </a:prstGeom>
          <a:noFill/>
          <a:ln/>
        </p:spPr>
        <p:txBody>
          <a:bodyPr wrap="square" lIns="0" tIns="0" rIns="0" bIns="0" rtlCol="0" anchor="ctr"/>
          <a:lstStyle/>
          <a:p>
            <a:pPr marL="0" indent="0">
              <a:buNone/>
            </a:pPr>
            <a:r>
              <a:rPr lang="en-US" sz="1200" dirty="0">
                <a:solidFill>
                  <a:schemeClr val="bg2"/>
                </a:solidFill>
              </a:rPr>
              <a:t>₹15,000 · 3 days</a:t>
            </a:r>
            <a:endParaRPr lang="en-US" sz="1200" dirty="0"/>
          </a:p>
        </p:txBody>
      </p:sp>
      <p:graphicFrame>
        <p:nvGraphicFramePr>
          <p:cNvPr id="47" name="Chart 0"/>
          <p:cNvGraphicFramePr/>
          <p:nvPr/>
        </p:nvGraphicFramePr>
        <p:xfrm>
          <a:off x="6217920" y="2011680"/>
          <a:ext cx="237744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chemeClr val="bg1"/>
                </a:solidFill>
              </a:rPr>
              <a:t>Conclusion</a:t>
            </a:r>
            <a:endParaRPr lang="en-US" sz="32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marL="0" indent="0">
              <a:buNone/>
            </a:pPr>
            <a:r>
              <a:rPr lang="en-US" sz="1600" dirty="0">
                <a:solidFill>
                  <a:schemeClr val="accent1"/>
                </a:solidFill>
                <a:latin typeface="Nirmala UI" pitchFamily="34" charset="0"/>
                <a:ea typeface="Nirmala UI" pitchFamily="34" charset="-122"/>
                <a:cs typeface="Nirmala UI" pitchFamily="34" charset="-120"/>
              </a:rPr>
              <a:t>ಉಪಸಂಹಾರ</a:t>
            </a:r>
            <a:endParaRPr lang="en-US" sz="1600" dirty="0"/>
          </a:p>
        </p:txBody>
      </p:sp>
      <p:sp>
        <p:nvSpPr>
          <p:cNvPr id="5" name="Card Summary"/>
          <p:cNvSpPr/>
          <p:nvPr/>
        </p:nvSpPr>
        <p:spPr>
          <a:xfrm>
            <a:off x="45720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FlagCheckered"/>
          <p:cNvSpPr/>
          <p:nvPr/>
        </p:nvSpPr>
        <p:spPr>
          <a:xfrm>
            <a:off x="658368" y="1600200"/>
            <a:ext cx="457200" cy="457200"/>
          </a:xfrm>
          <a:prstGeom prst="ellipse">
            <a:avLst/>
          </a:prstGeom>
          <a:solidFill>
            <a:schemeClr val="accent1"/>
          </a:solidFill>
          <a:ln/>
        </p:spPr>
      </p:sp>
      <p:pic>
        <p:nvPicPr>
          <p:cNvPr id="7" name="Image 0" descr="FlagCheckered icon"/>
          <p:cNvPicPr>
            <a:picLocks noChangeAspect="1"/>
          </p:cNvPicPr>
          <p:nvPr/>
        </p:nvPicPr>
        <p:blipFill>
          <a:blip r:embed="rId3"/>
          <a:stretch>
            <a:fillRect/>
          </a:stretch>
        </p:blipFill>
        <p:spPr>
          <a:xfrm>
            <a:off x="772668" y="1714500"/>
            <a:ext cx="228600" cy="228600"/>
          </a:xfrm>
          <a:prstGeom prst="rect">
            <a:avLst/>
          </a:prstGeom>
        </p:spPr>
      </p:pic>
      <p:sp>
        <p:nvSpPr>
          <p:cNvPr id="8" name="Text 4"/>
          <p:cNvSpPr txBox="1"/>
          <p:nvPr/>
        </p:nvSpPr>
        <p:spPr>
          <a:xfrm>
            <a:off x="123444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Summary</a:t>
            </a:r>
            <a:endParaRPr lang="en-US" sz="1700" dirty="0"/>
          </a:p>
        </p:txBody>
      </p:sp>
      <p:sp>
        <p:nvSpPr>
          <p:cNvPr id="9" name="Text 5"/>
          <p:cNvSpPr txBox="1"/>
          <p:nvPr/>
        </p:nvSpPr>
        <p:spPr>
          <a:xfrm>
            <a:off x="65836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Bilingual AI planner built for Karnataka</a:t>
            </a:r>
            <a:endParaRPr lang="en-US" sz="1400" dirty="0"/>
          </a:p>
          <a:p>
            <a:pPr marL="177800" indent="-177800">
              <a:spcAft>
                <a:spcPts val="600"/>
              </a:spcAft>
              <a:buSzPct val="100000"/>
              <a:buChar char="•"/>
            </a:pPr>
            <a:r>
              <a:rPr lang="en-US" sz="1400" dirty="0">
                <a:solidFill>
                  <a:schemeClr val="bg1"/>
                </a:solidFill>
              </a:rPr>
              <a:t>Data-first engine: scores, clusters, fits budget</a:t>
            </a:r>
            <a:endParaRPr lang="en-US" sz="1400" dirty="0"/>
          </a:p>
          <a:p>
            <a:pPr marL="177800" indent="-177800">
              <a:spcAft>
                <a:spcPts val="600"/>
              </a:spcAft>
              <a:buSzPct val="100000"/>
              <a:buChar char="•"/>
            </a:pPr>
            <a:r>
              <a:rPr lang="en-US" sz="1400" dirty="0">
                <a:solidFill>
                  <a:schemeClr val="bg1"/>
                </a:solidFill>
              </a:rPr>
              <a:t>AI narrates and never invents places</a:t>
            </a:r>
            <a:endParaRPr lang="en-US" sz="1400" dirty="0"/>
          </a:p>
          <a:p>
            <a:pPr marL="177800" indent="-177800">
              <a:spcAft>
                <a:spcPts val="600"/>
              </a:spcAft>
              <a:buSzPct val="100000"/>
              <a:buChar char="•"/>
            </a:pPr>
            <a:r>
              <a:rPr lang="en-US" sz="1400" dirty="0">
                <a:solidFill>
                  <a:schemeClr val="bg1"/>
                </a:solidFill>
              </a:rPr>
              <a:t>Map, budget, phrases and food in one place</a:t>
            </a:r>
            <a:endParaRPr lang="en-US" sz="1400" dirty="0"/>
          </a:p>
        </p:txBody>
      </p:sp>
      <p:sp>
        <p:nvSpPr>
          <p:cNvPr id="10" name="Card Impact"/>
          <p:cNvSpPr/>
          <p:nvPr/>
        </p:nvSpPr>
        <p:spPr>
          <a:xfrm>
            <a:off x="329184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1" name="Icon circle FaSeedling"/>
          <p:cNvSpPr/>
          <p:nvPr/>
        </p:nvSpPr>
        <p:spPr>
          <a:xfrm>
            <a:off x="3493008" y="1600200"/>
            <a:ext cx="457200" cy="457200"/>
          </a:xfrm>
          <a:prstGeom prst="ellipse">
            <a:avLst/>
          </a:prstGeom>
          <a:solidFill>
            <a:schemeClr val="accent3"/>
          </a:solidFill>
          <a:ln/>
        </p:spPr>
      </p:sp>
      <p:pic>
        <p:nvPicPr>
          <p:cNvPr id="12" name="Image 1" descr="Seedling icon"/>
          <p:cNvPicPr>
            <a:picLocks noChangeAspect="1"/>
          </p:cNvPicPr>
          <p:nvPr/>
        </p:nvPicPr>
        <p:blipFill>
          <a:blip r:embed="rId4"/>
          <a:stretch>
            <a:fillRect/>
          </a:stretch>
        </p:blipFill>
        <p:spPr>
          <a:xfrm>
            <a:off x="3607308" y="1714500"/>
            <a:ext cx="228600" cy="228600"/>
          </a:xfrm>
          <a:prstGeom prst="rect">
            <a:avLst/>
          </a:prstGeom>
        </p:spPr>
      </p:pic>
      <p:sp>
        <p:nvSpPr>
          <p:cNvPr id="13" name="Text 8"/>
          <p:cNvSpPr txBox="1"/>
          <p:nvPr/>
        </p:nvSpPr>
        <p:spPr>
          <a:xfrm>
            <a:off x="406908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Impact</a:t>
            </a:r>
            <a:endParaRPr lang="en-US" sz="1700" dirty="0"/>
          </a:p>
        </p:txBody>
      </p:sp>
      <p:sp>
        <p:nvSpPr>
          <p:cNvPr id="14" name="Text 9"/>
          <p:cNvSpPr txBox="1"/>
          <p:nvPr/>
        </p:nvSpPr>
        <p:spPr>
          <a:xfrm>
            <a:off x="349300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Plans a trip in minutes, not hours</a:t>
            </a:r>
            <a:endParaRPr lang="en-US" sz="1400" dirty="0"/>
          </a:p>
          <a:p>
            <a:pPr marL="177800" indent="-177800">
              <a:spcAft>
                <a:spcPts val="600"/>
              </a:spcAft>
              <a:buSzPct val="100000"/>
              <a:buChar char="•"/>
            </a:pPr>
            <a:r>
              <a:rPr lang="en-US" sz="1400" dirty="0">
                <a:solidFill>
                  <a:schemeClr val="bg1"/>
                </a:solidFill>
              </a:rPr>
              <a:t>Spotlights lesser-known destinations</a:t>
            </a:r>
            <a:endParaRPr lang="en-US" sz="1400" dirty="0"/>
          </a:p>
          <a:p>
            <a:pPr marL="177800" indent="-177800">
              <a:spcAft>
                <a:spcPts val="600"/>
              </a:spcAft>
              <a:buSzPct val="100000"/>
              <a:buChar char="•"/>
            </a:pPr>
            <a:r>
              <a:rPr lang="en-US" sz="1400" dirty="0">
                <a:solidFill>
                  <a:schemeClr val="bg1"/>
                </a:solidFill>
              </a:rPr>
              <a:t>Brings the Kannada language to every visitor</a:t>
            </a:r>
            <a:endParaRPr lang="en-US" sz="1400" dirty="0"/>
          </a:p>
          <a:p>
            <a:pPr marL="177800" indent="-177800">
              <a:spcAft>
                <a:spcPts val="600"/>
              </a:spcAft>
              <a:buSzPct val="100000"/>
              <a:buChar char="•"/>
            </a:pPr>
            <a:r>
              <a:rPr lang="en-US" sz="1400" dirty="0">
                <a:solidFill>
                  <a:schemeClr val="bg1"/>
                </a:solidFill>
              </a:rPr>
              <a:t>Supports local tourism and culture</a:t>
            </a:r>
            <a:endParaRPr lang="en-US" sz="1400" dirty="0"/>
          </a:p>
        </p:txBody>
      </p:sp>
      <p:sp>
        <p:nvSpPr>
          <p:cNvPr id="15" name="Card Future scope"/>
          <p:cNvSpPr/>
          <p:nvPr/>
        </p:nvSpPr>
        <p:spPr>
          <a:xfrm>
            <a:off x="6126480" y="1417320"/>
            <a:ext cx="2560320" cy="3108960"/>
          </a:xfrm>
          <a:prstGeom prst="roundRect">
            <a:avLst>
              <a:gd name="adj" fmla="val 5000"/>
            </a:avLst>
          </a:prstGeom>
          <a:solidFill>
            <a:schemeClr val="bg1">
              <a:alpha val="12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6" name="Icon circle FaRocket"/>
          <p:cNvSpPr/>
          <p:nvPr/>
        </p:nvSpPr>
        <p:spPr>
          <a:xfrm>
            <a:off x="6327648" y="1600200"/>
            <a:ext cx="457200" cy="457200"/>
          </a:xfrm>
          <a:prstGeom prst="ellipse">
            <a:avLst/>
          </a:prstGeom>
          <a:solidFill>
            <a:schemeClr val="accent2"/>
          </a:solidFill>
          <a:ln/>
        </p:spPr>
      </p:sp>
      <p:pic>
        <p:nvPicPr>
          <p:cNvPr id="17" name="Image 2" descr="Rocket icon"/>
          <p:cNvPicPr>
            <a:picLocks noChangeAspect="1"/>
          </p:cNvPicPr>
          <p:nvPr/>
        </p:nvPicPr>
        <p:blipFill>
          <a:blip r:embed="rId5"/>
          <a:stretch>
            <a:fillRect/>
          </a:stretch>
        </p:blipFill>
        <p:spPr>
          <a:xfrm>
            <a:off x="6441948" y="1714500"/>
            <a:ext cx="228600" cy="228600"/>
          </a:xfrm>
          <a:prstGeom prst="rect">
            <a:avLst/>
          </a:prstGeom>
        </p:spPr>
      </p:pic>
      <p:sp>
        <p:nvSpPr>
          <p:cNvPr id="18" name="Text 12"/>
          <p:cNvSpPr txBox="1"/>
          <p:nvPr/>
        </p:nvSpPr>
        <p:spPr>
          <a:xfrm>
            <a:off x="6903720" y="1600200"/>
            <a:ext cx="1691640" cy="457200"/>
          </a:xfrm>
          <a:prstGeom prst="rect">
            <a:avLst/>
          </a:prstGeom>
          <a:noFill/>
          <a:ln/>
        </p:spPr>
        <p:txBody>
          <a:bodyPr wrap="square" lIns="0" tIns="0" rIns="0" bIns="0" rtlCol="0" anchor="ctr"/>
          <a:lstStyle/>
          <a:p>
            <a:pPr marL="0" indent="0">
              <a:buNone/>
            </a:pPr>
            <a:r>
              <a:rPr lang="en-US" sz="1700" b="1" dirty="0">
                <a:solidFill>
                  <a:schemeClr val="bg1"/>
                </a:solidFill>
              </a:rPr>
              <a:t>Future scope</a:t>
            </a:r>
            <a:endParaRPr lang="en-US" sz="1700" dirty="0"/>
          </a:p>
        </p:txBody>
      </p:sp>
      <p:sp>
        <p:nvSpPr>
          <p:cNvPr id="19" name="Text 13"/>
          <p:cNvSpPr txBox="1"/>
          <p:nvPr/>
        </p:nvSpPr>
        <p:spPr>
          <a:xfrm>
            <a:off x="6327648" y="2286000"/>
            <a:ext cx="2194560"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Booking and live transport integration</a:t>
            </a:r>
            <a:endParaRPr lang="en-US" sz="1400" dirty="0"/>
          </a:p>
          <a:p>
            <a:pPr marL="177800" indent="-177800">
              <a:spcAft>
                <a:spcPts val="600"/>
              </a:spcAft>
              <a:buSzPct val="100000"/>
              <a:buChar char="•"/>
            </a:pPr>
            <a:r>
              <a:rPr lang="en-US" sz="1400" dirty="0">
                <a:solidFill>
                  <a:schemeClr val="bg1"/>
                </a:solidFill>
              </a:rPr>
              <a:t>Voice-based planning in Kannada</a:t>
            </a:r>
            <a:endParaRPr lang="en-US" sz="1400" dirty="0"/>
          </a:p>
          <a:p>
            <a:pPr marL="177800" indent="-177800">
              <a:spcAft>
                <a:spcPts val="600"/>
              </a:spcAft>
              <a:buSzPct val="100000"/>
              <a:buChar char="•"/>
            </a:pPr>
            <a:r>
              <a:rPr lang="en-US" sz="1400" dirty="0">
                <a:solidFill>
                  <a:schemeClr val="bg1"/>
                </a:solidFill>
              </a:rPr>
              <a:t>Offline-first PWA for remote areas</a:t>
            </a:r>
            <a:endParaRPr lang="en-US" sz="1400" dirty="0"/>
          </a:p>
          <a:p>
            <a:pPr marL="177800" indent="-177800">
              <a:spcAft>
                <a:spcPts val="600"/>
              </a:spcAft>
              <a:buSzPct val="100000"/>
              <a:buChar char="•"/>
            </a:pPr>
            <a:r>
              <a:rPr lang="en-US" sz="1400" dirty="0">
                <a:solidFill>
                  <a:schemeClr val="bg1"/>
                </a:solidFill>
              </a:rPr>
              <a:t>Weather-aware re-planning and community gems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777240"/>
            <a:ext cx="8229600" cy="1005840"/>
          </a:xfrm>
          <a:prstGeom prst="rect">
            <a:avLst/>
          </a:prstGeom>
          <a:noFill/>
          <a:ln/>
        </p:spPr>
        <p:txBody>
          <a:bodyPr wrap="square" lIns="0" tIns="0" rIns="0" bIns="0" rtlCol="0" anchor="ctr"/>
          <a:lstStyle/>
          <a:p>
            <a:pPr marL="0" indent="0" algn="ctr">
              <a:buNone/>
            </a:pPr>
            <a:r>
              <a:rPr lang="en-US" sz="6000" b="1" dirty="0">
                <a:solidFill>
                  <a:schemeClr val="accent1"/>
                </a:solidFill>
                <a:latin typeface="Nirmala UI" pitchFamily="34" charset="0"/>
                <a:ea typeface="Nirmala UI" pitchFamily="34" charset="-122"/>
                <a:cs typeface="Nirmala UI" pitchFamily="34" charset="-120"/>
              </a:rPr>
              <a:t>ಧನ್ಯವಾದಗಳು</a:t>
            </a:r>
            <a:endParaRPr lang="en-US" sz="6000" dirty="0"/>
          </a:p>
        </p:txBody>
      </p:sp>
      <p:sp>
        <p:nvSpPr>
          <p:cNvPr id="3" name="Text 0"/>
          <p:cNvSpPr>
            <a:spLocks noGrp="1"/>
          </p:cNvSpPr>
          <p:nvPr>
            <p:ph type="title" idx="100" hasCustomPrompt="1"/>
          </p:nvPr>
        </p:nvSpPr>
        <p:spPr>
          <a:xfrm>
            <a:off x="457200" y="1783080"/>
            <a:ext cx="8229600" cy="640080"/>
          </a:xfrm>
          <a:prstGeom prst="rect">
            <a:avLst/>
          </a:prstGeom>
          <a:noFill/>
          <a:ln/>
        </p:spPr>
        <p:txBody>
          <a:bodyPr wrap="square" lIns="0" tIns="0" rIns="0" bIns="0" rtlCol="0" anchor="ctr"/>
          <a:lstStyle/>
          <a:p>
            <a:pPr marL="0" indent="0" algn="ctr">
              <a:buNone/>
            </a:pPr>
            <a:r>
              <a:rPr lang="en-US" sz="3600" b="1" dirty="0">
                <a:solidFill>
                  <a:schemeClr val="bg1"/>
                </a:solidFill>
              </a:rPr>
              <a:t>Thank You</a:t>
            </a:r>
            <a:endParaRPr lang="en-US" sz="3600" dirty="0"/>
          </a:p>
        </p:txBody>
      </p:sp>
      <p:sp>
        <p:nvSpPr>
          <p:cNvPr id="4" name="Text 2"/>
          <p:cNvSpPr txBox="1"/>
          <p:nvPr/>
        </p:nvSpPr>
        <p:spPr>
          <a:xfrm>
            <a:off x="457200" y="2468880"/>
            <a:ext cx="8229600" cy="365760"/>
          </a:xfrm>
          <a:prstGeom prst="rect">
            <a:avLst/>
          </a:prstGeom>
          <a:noFill/>
          <a:ln/>
        </p:spPr>
        <p:txBody>
          <a:bodyPr wrap="square" lIns="0" tIns="0" rIns="0" bIns="0" rtlCol="0" anchor="ctr"/>
          <a:lstStyle/>
          <a:p>
            <a:pPr marL="0" indent="0" algn="ctr">
              <a:buNone/>
            </a:pPr>
            <a:r>
              <a:rPr lang="en-US" sz="2000" b="1" dirty="0">
                <a:solidFill>
                  <a:schemeClr val="accent1"/>
                </a:solidFill>
                <a:latin typeface="Nirmala UI" pitchFamily="34" charset="0"/>
                <a:ea typeface="Nirmala UI" pitchFamily="34" charset="-122"/>
                <a:cs typeface="Nirmala UI" pitchFamily="34" charset="-120"/>
              </a:rPr>
              <a:t>ಅತಿಥಿ ದೇವೋ ಭವ</a:t>
            </a:r>
            <a:r>
              <a:rPr lang="en-US" sz="1600" i="1" dirty="0">
                <a:solidFill>
                  <a:schemeClr val="bg2"/>
                </a:solidFill>
              </a:rPr>
              <a:t>  ·  Atithi Devo Bhava</a:t>
            </a:r>
            <a:endParaRPr lang="en-US" sz="2000" dirty="0"/>
          </a:p>
        </p:txBody>
      </p:sp>
      <p:sp>
        <p:nvSpPr>
          <p:cNvPr id="5" name="Link pill GitHub repository"/>
          <p:cNvSpPr/>
          <p:nvPr/>
        </p:nvSpPr>
        <p:spPr>
          <a:xfrm>
            <a:off x="502920" y="3200400"/>
            <a:ext cx="2606040" cy="640080"/>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6" name="Icon circle FaGithub"/>
          <p:cNvSpPr/>
          <p:nvPr/>
        </p:nvSpPr>
        <p:spPr>
          <a:xfrm>
            <a:off x="640080" y="3337560"/>
            <a:ext cx="365760" cy="365760"/>
          </a:xfrm>
          <a:prstGeom prst="ellipse">
            <a:avLst/>
          </a:prstGeom>
          <a:solidFill>
            <a:schemeClr val="accent1"/>
          </a:solidFill>
          <a:ln/>
        </p:spPr>
      </p:sp>
      <p:pic>
        <p:nvPicPr>
          <p:cNvPr id="7" name="Image 0" descr="Github icon"/>
          <p:cNvPicPr>
            <a:picLocks noChangeAspect="1"/>
          </p:cNvPicPr>
          <p:nvPr/>
        </p:nvPicPr>
        <p:blipFill>
          <a:blip r:embed="rId3"/>
          <a:stretch>
            <a:fillRect/>
          </a:stretch>
        </p:blipFill>
        <p:spPr>
          <a:xfrm>
            <a:off x="731520" y="3429000"/>
            <a:ext cx="182880" cy="182880"/>
          </a:xfrm>
          <a:prstGeom prst="rect">
            <a:avLst/>
          </a:prstGeom>
        </p:spPr>
      </p:pic>
      <p:sp>
        <p:nvSpPr>
          <p:cNvPr id="8" name="Text 5"/>
          <p:cNvSpPr txBox="1"/>
          <p:nvPr/>
        </p:nvSpPr>
        <p:spPr>
          <a:xfrm>
            <a:off x="1143000" y="3200400"/>
            <a:ext cx="1920240" cy="640080"/>
          </a:xfrm>
          <a:prstGeom prst="rect">
            <a:avLst/>
          </a:prstGeom>
          <a:noFill/>
          <a:ln/>
        </p:spPr>
        <p:txBody>
          <a:bodyPr wrap="square" lIns="0" tIns="0" rIns="0" bIns="0" rtlCol="0" anchor="ctr"/>
          <a:lstStyle/>
          <a:p>
            <a:pPr marL="0" indent="0">
              <a:buNone/>
            </a:pPr>
            <a:r>
              <a:rPr lang="en-US" sz="1500" b="1" dirty="0">
                <a:solidFill>
                  <a:schemeClr val="bg1"/>
                </a:solidFill>
              </a:rPr>
              <a:t>GitHub repository</a:t>
            </a:r>
            <a:endParaRPr lang="en-US" sz="1500" dirty="0"/>
          </a:p>
        </p:txBody>
      </p:sp>
      <p:sp>
        <p:nvSpPr>
          <p:cNvPr id="9" name="Link pill Live deployed project"/>
          <p:cNvSpPr/>
          <p:nvPr/>
        </p:nvSpPr>
        <p:spPr>
          <a:xfrm>
            <a:off x="3291840" y="3200400"/>
            <a:ext cx="2606040" cy="640080"/>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0" name="Icon circle FaGlobe"/>
          <p:cNvSpPr/>
          <p:nvPr/>
        </p:nvSpPr>
        <p:spPr>
          <a:xfrm>
            <a:off x="3429000" y="3337560"/>
            <a:ext cx="365760" cy="365760"/>
          </a:xfrm>
          <a:prstGeom prst="ellipse">
            <a:avLst/>
          </a:prstGeom>
          <a:solidFill>
            <a:schemeClr val="accent3"/>
          </a:solidFill>
          <a:ln/>
        </p:spPr>
      </p:sp>
      <p:pic>
        <p:nvPicPr>
          <p:cNvPr id="11" name="Image 1" descr="Globe icon"/>
          <p:cNvPicPr>
            <a:picLocks noChangeAspect="1"/>
          </p:cNvPicPr>
          <p:nvPr/>
        </p:nvPicPr>
        <p:blipFill>
          <a:blip r:embed="rId4"/>
          <a:stretch>
            <a:fillRect/>
          </a:stretch>
        </p:blipFill>
        <p:spPr>
          <a:xfrm>
            <a:off x="3520440" y="3429000"/>
            <a:ext cx="182880" cy="182880"/>
          </a:xfrm>
          <a:prstGeom prst="rect">
            <a:avLst/>
          </a:prstGeom>
        </p:spPr>
      </p:pic>
      <p:sp>
        <p:nvSpPr>
          <p:cNvPr id="12" name="Text 8"/>
          <p:cNvSpPr txBox="1"/>
          <p:nvPr/>
        </p:nvSpPr>
        <p:spPr>
          <a:xfrm>
            <a:off x="3931920" y="3200400"/>
            <a:ext cx="1920240" cy="640080"/>
          </a:xfrm>
          <a:prstGeom prst="rect">
            <a:avLst/>
          </a:prstGeom>
          <a:noFill/>
          <a:ln/>
        </p:spPr>
        <p:txBody>
          <a:bodyPr wrap="square" lIns="0" tIns="0" rIns="0" bIns="0" rtlCol="0" anchor="ctr"/>
          <a:lstStyle/>
          <a:p>
            <a:pPr marL="0" indent="0">
              <a:buNone/>
            </a:pPr>
            <a:r>
              <a:rPr lang="en-US" sz="1500" b="1" dirty="0">
                <a:solidFill>
                  <a:schemeClr val="bg1"/>
                </a:solidFill>
              </a:rPr>
              <a:t>Live deployed project</a:t>
            </a:r>
            <a:endParaRPr lang="en-US" sz="1500" dirty="0"/>
          </a:p>
        </p:txBody>
      </p:sp>
      <p:sp>
        <p:nvSpPr>
          <p:cNvPr id="13" name="Link pill Explanation video"/>
          <p:cNvSpPr/>
          <p:nvPr/>
        </p:nvSpPr>
        <p:spPr>
          <a:xfrm>
            <a:off x="6080760" y="3200400"/>
            <a:ext cx="2606040" cy="640080"/>
          </a:xfrm>
          <a:prstGeom prst="roundRect">
            <a:avLst>
              <a:gd name="adj" fmla="val 50000"/>
            </a:avLst>
          </a:prstGeom>
          <a:solidFill>
            <a:schemeClr val="bg1">
              <a:alpha val="15000"/>
            </a:schemeClr>
          </a:solidFill>
          <a:ln w="9525">
            <a:solidFill>
              <a:schemeClr val="bg1">
                <a:alpha val="38000"/>
              </a:schemeClr>
            </a:solidFill>
            <a:prstDash val="solid"/>
          </a:ln>
          <a:effectLst>
            <a:outerShdw blurRad="127000" dist="38100" dir="5400000" algn="bl" rotWithShape="0">
              <a:srgbClr val="000000">
                <a:alpha val="30000"/>
              </a:srgbClr>
            </a:outerShdw>
          </a:effectLst>
        </p:spPr>
      </p:sp>
      <p:sp>
        <p:nvSpPr>
          <p:cNvPr id="14" name="Icon circle FaVideo"/>
          <p:cNvSpPr/>
          <p:nvPr/>
        </p:nvSpPr>
        <p:spPr>
          <a:xfrm>
            <a:off x="6217920" y="3337560"/>
            <a:ext cx="365760" cy="365760"/>
          </a:xfrm>
          <a:prstGeom prst="ellipse">
            <a:avLst/>
          </a:prstGeom>
          <a:solidFill>
            <a:schemeClr val="accent4"/>
          </a:solidFill>
          <a:ln/>
        </p:spPr>
      </p:sp>
      <p:pic>
        <p:nvPicPr>
          <p:cNvPr id="15" name="Image 2" descr="Video icon"/>
          <p:cNvPicPr>
            <a:picLocks noChangeAspect="1"/>
          </p:cNvPicPr>
          <p:nvPr/>
        </p:nvPicPr>
        <p:blipFill>
          <a:blip r:embed="rId5"/>
          <a:stretch>
            <a:fillRect/>
          </a:stretch>
        </p:blipFill>
        <p:spPr>
          <a:xfrm>
            <a:off x="6309360" y="3429000"/>
            <a:ext cx="182880" cy="182880"/>
          </a:xfrm>
          <a:prstGeom prst="rect">
            <a:avLst/>
          </a:prstGeom>
        </p:spPr>
      </p:pic>
      <p:sp>
        <p:nvSpPr>
          <p:cNvPr id="16" name="Text 11"/>
          <p:cNvSpPr txBox="1"/>
          <p:nvPr/>
        </p:nvSpPr>
        <p:spPr>
          <a:xfrm>
            <a:off x="6720840" y="3200400"/>
            <a:ext cx="1920240" cy="640080"/>
          </a:xfrm>
          <a:prstGeom prst="rect">
            <a:avLst/>
          </a:prstGeom>
          <a:noFill/>
          <a:ln/>
        </p:spPr>
        <p:txBody>
          <a:bodyPr wrap="square" lIns="0" tIns="0" rIns="0" bIns="0" rtlCol="0" anchor="ctr"/>
          <a:lstStyle/>
          <a:p>
            <a:pPr marL="0" indent="0">
              <a:buNone/>
            </a:pPr>
            <a:r>
              <a:rPr lang="en-US" sz="1500" b="1" dirty="0">
                <a:solidFill>
                  <a:schemeClr val="bg1"/>
                </a:solidFill>
              </a:rPr>
              <a:t>Explanation video</a:t>
            </a:r>
            <a:endParaRPr lang="en-US" sz="1500" dirty="0"/>
          </a:p>
        </p:txBody>
      </p:sp>
      <p:sp>
        <p:nvSpPr>
          <p:cNvPr id="17" name="Text 12"/>
          <p:cNvSpPr txBox="1"/>
          <p:nvPr/>
        </p:nvSpPr>
        <p:spPr>
          <a:xfrm>
            <a:off x="457200" y="4206240"/>
            <a:ext cx="8229600" cy="320040"/>
          </a:xfrm>
          <a:prstGeom prst="rect">
            <a:avLst/>
          </a:prstGeom>
          <a:noFill/>
          <a:ln/>
        </p:spPr>
        <p:txBody>
          <a:bodyPr wrap="square" lIns="0" tIns="0" rIns="0" bIns="0" rtlCol="0" anchor="ctr"/>
          <a:lstStyle/>
          <a:p>
            <a:pPr marL="0" indent="0" algn="ctr">
              <a:buNone/>
            </a:pPr>
            <a:r>
              <a:rPr lang="en-US" sz="1400" dirty="0">
                <a:solidFill>
                  <a:schemeClr val="bg2"/>
                </a:solidFill>
              </a:rPr>
              <a:t>Made with love for Karnataka  ·  </a:t>
            </a:r>
            <a:r>
              <a:rPr lang="en-US" sz="1400" dirty="0">
                <a:solidFill>
                  <a:schemeClr val="accent1"/>
                </a:solidFill>
                <a:latin typeface="Nirmala UI" pitchFamily="34" charset="0"/>
                <a:ea typeface="Nirmala UI" pitchFamily="34" charset="-122"/>
                <a:cs typeface="Nirmala UI" pitchFamily="34" charset="-120"/>
              </a:rPr>
              <a:t>ಕನ್ನಡಿಗರಿಗಾಗಿ ಪ್ರೀತಿಯಿಂದ</a:t>
            </a:r>
            <a:endParaRPr lang="en-US" sz="1400" dirty="0"/>
          </a:p>
        </p:txBody>
      </p:sp>
    </p:spTree>
  </p:cSld>
  <p:clrMapOvr>
    <a:masterClrMapping/>
  </p:clrMapOvr>
</p:sld>
</file>

<file path=ppt/theme/theme1.xml><?xml version="1.0" encoding="utf-8"?>
<a:theme xmlns:a="http://schemas.openxmlformats.org/drawingml/2006/main" name="Karnataka Glass">
  <a:themeElements>
    <a:clrScheme name="Karnataka Glass">
      <a:dk1>
        <a:srgbClr val="0B0B1A"/>
      </a:dk1>
      <a:lt1>
        <a:srgbClr val="FFFFFF"/>
      </a:lt1>
      <a:dk2>
        <a:srgbClr val="7A1633"/>
      </a:dk2>
      <a:lt2>
        <a:srgbClr val="D6D2EE"/>
      </a:lt2>
      <a:accent1>
        <a:srgbClr val="F5B301"/>
      </a:accent1>
      <a:accent2>
        <a:srgbClr val="FF7A59"/>
      </a:accent2>
      <a:accent3>
        <a:srgbClr val="22C58B"/>
      </a:accent3>
      <a:accent4>
        <a:srgbClr val="19B5C9"/>
      </a:accent4>
      <a:accent5>
        <a:srgbClr val="C2305A"/>
      </a:accent5>
      <a:accent6>
        <a:srgbClr val="9B8CFF"/>
      </a:accent6>
      <a:hlink>
        <a:srgbClr val="F5B301"/>
      </a:hlink>
      <a:folHlink>
        <a:srgbClr val="D6D2EE"/>
      </a:folHlink>
    </a:clrScheme>
    <a:fontScheme name="Karnataka Gl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1872</Words>
  <Application>Microsoft Office PowerPoint</Application>
  <PresentationFormat>On-screen Show (16:9)</PresentationFormat>
  <Paragraphs>290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Nirmala UI</vt:lpstr>
      <vt:lpstr>Karnataka Glass</vt:lpstr>
      <vt:lpstr>Karnataka Yatra</vt:lpstr>
      <vt:lpstr>Problem Statement</vt:lpstr>
      <vt:lpstr>Existing System</vt:lpstr>
      <vt:lpstr>How Our Solution Is Different</vt:lpstr>
      <vt:lpstr>Our Approach</vt:lpstr>
      <vt:lpstr>The Planner Engine</vt:lpstr>
      <vt:lpstr>Key Features</vt:lpstr>
      <vt:lpstr>The Kannada Touch</vt:lpstr>
      <vt:lpstr>Tech Stack</vt:lpstr>
      <vt:lpstr>System Architecture</vt:lpstr>
      <vt:lpstr>Sample Itinerary</vt:lpstr>
      <vt:lpstr>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Yatra - AI Travel Planner for Karnataka</dc:title>
  <dc:subject>PptxGenJS Presentation</dc:subject>
  <dc:creator>Karnataka Yatra Team</dc:creator>
  <cp:lastModifiedBy>Soutik Mandal</cp:lastModifiedBy>
  <cp:revision>4</cp:revision>
  <dcterms:created xsi:type="dcterms:W3CDTF">2026-10-22T07:49:14Z</dcterms:created>
  <dcterms:modified xsi:type="dcterms:W3CDTF">2026-10-23T09:57:08Z</dcterms:modified>
</cp:coreProperties>
</file>